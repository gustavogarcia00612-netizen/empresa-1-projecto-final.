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5" r:id="rId2"/>
    <p:sldId id="257" r:id="rId3"/>
    <p:sldId id="258" r:id="rId4"/>
    <p:sldId id="259" r:id="rId5"/>
    <p:sldId id="277" r:id="rId6"/>
    <p:sldId id="261" r:id="rId7"/>
    <p:sldId id="276" r:id="rId8"/>
    <p:sldId id="263" r:id="rId9"/>
    <p:sldId id="278" r:id="rId10"/>
    <p:sldId id="279" r:id="rId11"/>
    <p:sldId id="266" r:id="rId12"/>
    <p:sldId id="280" r:id="rId13"/>
    <p:sldId id="268" r:id="rId14"/>
    <p:sldId id="281" r:id="rId15"/>
    <p:sldId id="270" r:id="rId16"/>
    <p:sldId id="282" r:id="rId17"/>
    <p:sldId id="272" r:id="rId18"/>
    <p:sldId id="28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11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6.png"/><Relationship Id="rId5" Type="http://schemas.openxmlformats.org/officeDocument/2006/relationships/image" Target="../media/image24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1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554480"/>
            <a:ext cx="4754880" cy="4754880"/>
          </a:xfrm>
          <a:prstGeom prst="ellipse">
            <a:avLst/>
          </a:prstGeom>
          <a:ln w="12700">
            <a:solidFill>
              <a:srgbClr val="20C7F4">
                <a:alpha val="1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281160" y="-868680"/>
            <a:ext cx="3383280" cy="3383280"/>
          </a:xfrm>
          <a:prstGeom prst="ellipse">
            <a:avLst/>
          </a:prstGeom>
          <a:ln w="12700">
            <a:solidFill>
              <a:srgbClr val="20C7F4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21240" y="-228600"/>
            <a:ext cx="2103120" cy="2103120"/>
          </a:xfrm>
          <a:prstGeom prst="ellipse">
            <a:avLst/>
          </a:prstGeom>
          <a:ln w="12700">
            <a:solidFill>
              <a:srgbClr val="20C7F4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1554480" y="3749040"/>
            <a:ext cx="4754880" cy="4754880"/>
          </a:xfrm>
          <a:prstGeom prst="ellipse">
            <a:avLst/>
          </a:prstGeom>
          <a:ln w="12700">
            <a:solidFill>
              <a:srgbClr val="20C7F4">
                <a:alpha val="1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-868680" y="4434840"/>
            <a:ext cx="3383280" cy="3383280"/>
          </a:xfrm>
          <a:prstGeom prst="ellipse">
            <a:avLst/>
          </a:prstGeom>
          <a:ln w="12700">
            <a:solidFill>
              <a:srgbClr val="20C7F4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-228600" y="5074920"/>
            <a:ext cx="2103120" cy="2103120"/>
          </a:xfrm>
          <a:prstGeom prst="ellipse">
            <a:avLst/>
          </a:prstGeom>
          <a:ln w="12700">
            <a:solidFill>
              <a:srgbClr val="20C7F4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/home/claude/assets/qns_logo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70" y="-33350"/>
            <a:ext cx="3434918" cy="34349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907792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PROYECTO FINAL DE CONMUTACIÓN Y ENRUTAMIENTO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80160" y="3401568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Diseño, implementación y validación de una infraestructura corporativa multisede en PNETLab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592928" y="4041648"/>
            <a:ext cx="1005840" cy="914"/>
          </a:xfrm>
          <a:prstGeom prst="line">
            <a:avLst/>
          </a:prstGeom>
          <a:noFill/>
          <a:ln w="1905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14400" y="4251960"/>
            <a:ext cx="10362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TI-203  ·  Instituto Tecnológico de las Américas (ITLA)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" y="457200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Profesor: Onel Luis Pelegrino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14400" y="486460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2026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280160" y="5870448"/>
            <a:ext cx="9631375" cy="914"/>
          </a:xfrm>
          <a:prstGeom prst="line">
            <a:avLst/>
          </a:prstGeom>
          <a:noFill/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1520" y="6016752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5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RAMÓN GARCÍA   ·   GUSTAVO GARCÍA   ·   WILMER TOVAL   ·   BERNIS BELTRÉ   ·   ANDY DE LA CRUZ   ·   AARÓN HERNÁNDEZ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CORPORATIVA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62179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somos?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Quisqueya Network Solutions (QNS) </a:t>
            </a:r>
            <a:r>
              <a:rPr lang="en-US" sz="1350" dirty="0">
                <a:solidFill>
                  <a:srgbClr val="8B93A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es una empresa dominicana orientada a la prestación de servicios tecnológicos y de atención al cliente, con operaciones que dependen de Internet, centros de contacto y ventas directas.</a:t>
            </a:r>
            <a:endParaRPr lang="en-US" sz="13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3"/>
          <p:cNvSpPr/>
          <p:nvPr/>
        </p:nvSpPr>
        <p:spPr>
          <a:xfrm>
            <a:off x="480060" y="2812384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Nuestra sede principal está en Santo Domingo </a:t>
            </a:r>
            <a:r>
              <a:rPr lang="en-US" sz="1350" dirty="0">
                <a:solidFill>
                  <a:srgbClr val="8B93A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y su presencia nacional se extiende mediante sucursales en Santiago, La Romana, Puerto Plata y Barahona. La red debe mantener comunicación segura, disponible y escalable entre sedes.</a:t>
            </a:r>
            <a:endParaRPr lang="en-US" sz="13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 · Proyecto Final TI-203 · Conmutación y Enrutamiento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19</a:t>
            </a:r>
            <a:endParaRPr lang="en-US" sz="900" dirty="0"/>
          </a:p>
        </p:txBody>
      </p:sp>
      <p:sp>
        <p:nvSpPr>
          <p:cNvPr id="108" name="Shape 15">
            <a:extLst>
              <a:ext uri="{FF2B5EF4-FFF2-40B4-BE49-F238E27FC236}">
                <a16:creationId xmlns:a16="http://schemas.microsoft.com/office/drawing/2014/main" id="{AB144F32-0721-5157-C43F-3584AFEEBC2B}"/>
              </a:ext>
            </a:extLst>
          </p:cNvPr>
          <p:cNvSpPr/>
          <p:nvPr/>
        </p:nvSpPr>
        <p:spPr>
          <a:xfrm>
            <a:off x="6542848" y="1378588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0F1F41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0" name="Text 16">
            <a:extLst>
              <a:ext uri="{FF2B5EF4-FFF2-40B4-BE49-F238E27FC236}">
                <a16:creationId xmlns:a16="http://schemas.microsoft.com/office/drawing/2014/main" id="{37043723-5277-DE9F-760C-E59496F51CFA}"/>
              </a:ext>
            </a:extLst>
          </p:cNvPr>
          <p:cNvSpPr/>
          <p:nvPr/>
        </p:nvSpPr>
        <p:spPr>
          <a:xfrm>
            <a:off x="6817168" y="153403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0C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NACIONAL</a:t>
            </a:r>
            <a:endParaRPr lang="en-US" sz="1050" dirty="0"/>
          </a:p>
        </p:txBody>
      </p:sp>
      <p:sp>
        <p:nvSpPr>
          <p:cNvPr id="112" name="Shape 17">
            <a:extLst>
              <a:ext uri="{FF2B5EF4-FFF2-40B4-BE49-F238E27FC236}">
                <a16:creationId xmlns:a16="http://schemas.microsoft.com/office/drawing/2014/main" id="{96602174-9DDE-C484-C893-110C768950D2}"/>
              </a:ext>
            </a:extLst>
          </p:cNvPr>
          <p:cNvSpPr/>
          <p:nvPr/>
        </p:nvSpPr>
        <p:spPr>
          <a:xfrm flipV="1">
            <a:off x="7594408" y="2292988"/>
            <a:ext cx="1554480" cy="914400"/>
          </a:xfrm>
          <a:prstGeom prst="line">
            <a:avLst/>
          </a:prstGeom>
          <a:noFill/>
          <a:ln w="1587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6B2F7DE0-329F-6FAD-AE07-AB219855705C}"/>
              </a:ext>
            </a:extLst>
          </p:cNvPr>
          <p:cNvSpPr/>
          <p:nvPr/>
        </p:nvSpPr>
        <p:spPr>
          <a:xfrm flipV="1">
            <a:off x="7594408" y="2750188"/>
            <a:ext cx="2926080" cy="457200"/>
          </a:xfrm>
          <a:prstGeom prst="line">
            <a:avLst/>
          </a:prstGeom>
          <a:noFill/>
          <a:ln w="1587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Shape 19">
            <a:extLst>
              <a:ext uri="{FF2B5EF4-FFF2-40B4-BE49-F238E27FC236}">
                <a16:creationId xmlns:a16="http://schemas.microsoft.com/office/drawing/2014/main" id="{AD35E5F4-1743-CE4B-8B79-D5F116E26349}"/>
              </a:ext>
            </a:extLst>
          </p:cNvPr>
          <p:cNvSpPr/>
          <p:nvPr/>
        </p:nvSpPr>
        <p:spPr>
          <a:xfrm>
            <a:off x="7594408" y="3207388"/>
            <a:ext cx="2926080" cy="731520"/>
          </a:xfrm>
          <a:prstGeom prst="line">
            <a:avLst/>
          </a:prstGeom>
          <a:noFill/>
          <a:ln w="1587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8" name="Shape 20">
            <a:extLst>
              <a:ext uri="{FF2B5EF4-FFF2-40B4-BE49-F238E27FC236}">
                <a16:creationId xmlns:a16="http://schemas.microsoft.com/office/drawing/2014/main" id="{2FB5A733-D0F1-593C-7BD7-B8DE1AED92D2}"/>
              </a:ext>
            </a:extLst>
          </p:cNvPr>
          <p:cNvSpPr/>
          <p:nvPr/>
        </p:nvSpPr>
        <p:spPr>
          <a:xfrm>
            <a:off x="7594408" y="3207388"/>
            <a:ext cx="1554480" cy="1188720"/>
          </a:xfrm>
          <a:prstGeom prst="line">
            <a:avLst/>
          </a:prstGeom>
          <a:noFill/>
          <a:ln w="1587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0" name="Shape 21">
            <a:extLst>
              <a:ext uri="{FF2B5EF4-FFF2-40B4-BE49-F238E27FC236}">
                <a16:creationId xmlns:a16="http://schemas.microsoft.com/office/drawing/2014/main" id="{3B043B38-2B00-A6CE-AE78-B7E83CCEDD36}"/>
              </a:ext>
            </a:extLst>
          </p:cNvPr>
          <p:cNvSpPr/>
          <p:nvPr/>
        </p:nvSpPr>
        <p:spPr>
          <a:xfrm>
            <a:off x="7365808" y="2978788"/>
            <a:ext cx="457200" cy="457200"/>
          </a:xfrm>
          <a:prstGeom prst="ellipse">
            <a:avLst/>
          </a:prstGeom>
          <a:solidFill>
            <a:srgbClr val="20C7F4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2" name="Image 4" descr="/home/claude/assets/icons/home_0B1730.png">
            <a:extLst>
              <a:ext uri="{FF2B5EF4-FFF2-40B4-BE49-F238E27FC236}">
                <a16:creationId xmlns:a16="http://schemas.microsoft.com/office/drawing/2014/main" id="{F7687D58-47C9-5C03-C178-DCB81B035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108" y="3093088"/>
            <a:ext cx="228600" cy="228600"/>
          </a:xfrm>
          <a:prstGeom prst="rect">
            <a:avLst/>
          </a:prstGeom>
        </p:spPr>
      </p:pic>
      <p:sp>
        <p:nvSpPr>
          <p:cNvPr id="124" name="Text 22">
            <a:extLst>
              <a:ext uri="{FF2B5EF4-FFF2-40B4-BE49-F238E27FC236}">
                <a16:creationId xmlns:a16="http://schemas.microsoft.com/office/drawing/2014/main" id="{0160E725-CF74-F337-32B4-27192FCE5BDD}"/>
              </a:ext>
            </a:extLst>
          </p:cNvPr>
          <p:cNvSpPr/>
          <p:nvPr/>
        </p:nvSpPr>
        <p:spPr>
          <a:xfrm>
            <a:off x="6680008" y="34908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 Domingo</a:t>
            </a:r>
            <a:endParaRPr lang="en-US" sz="950" dirty="0"/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A2AAA23A-DC7A-649F-4C03-B31F88806C73}"/>
              </a:ext>
            </a:extLst>
          </p:cNvPr>
          <p:cNvSpPr/>
          <p:nvPr/>
        </p:nvSpPr>
        <p:spPr>
          <a:xfrm>
            <a:off x="6588568" y="37103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principal</a:t>
            </a:r>
            <a:endParaRPr lang="en-US" sz="800" dirty="0"/>
          </a:p>
        </p:txBody>
      </p:sp>
      <p:sp>
        <p:nvSpPr>
          <p:cNvPr id="128" name="Shape 24">
            <a:extLst>
              <a:ext uri="{FF2B5EF4-FFF2-40B4-BE49-F238E27FC236}">
                <a16:creationId xmlns:a16="http://schemas.microsoft.com/office/drawing/2014/main" id="{E712147C-819F-5BC9-F762-6B3556E27A5C}"/>
              </a:ext>
            </a:extLst>
          </p:cNvPr>
          <p:cNvSpPr/>
          <p:nvPr/>
        </p:nvSpPr>
        <p:spPr>
          <a:xfrm>
            <a:off x="8975152" y="2119252"/>
            <a:ext cx="347472" cy="347472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0" name="Image 5" descr="/home/claude/assets/icons/database_FFFFFF.png">
            <a:extLst>
              <a:ext uri="{FF2B5EF4-FFF2-40B4-BE49-F238E27FC236}">
                <a16:creationId xmlns:a16="http://schemas.microsoft.com/office/drawing/2014/main" id="{6EE7BD4C-1533-5F5B-8D7F-1F047312A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2020" y="2206120"/>
            <a:ext cx="173736" cy="173736"/>
          </a:xfrm>
          <a:prstGeom prst="rect">
            <a:avLst/>
          </a:prstGeom>
        </p:spPr>
      </p:pic>
      <p:sp>
        <p:nvSpPr>
          <p:cNvPr id="132" name="Text 25">
            <a:extLst>
              <a:ext uri="{FF2B5EF4-FFF2-40B4-BE49-F238E27FC236}">
                <a16:creationId xmlns:a16="http://schemas.microsoft.com/office/drawing/2014/main" id="{D88F29F4-91FC-AE53-8C66-CFFD21DC1689}"/>
              </a:ext>
            </a:extLst>
          </p:cNvPr>
          <p:cNvSpPr/>
          <p:nvPr/>
        </p:nvSpPr>
        <p:spPr>
          <a:xfrm>
            <a:off x="8234488" y="25215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</a:t>
            </a:r>
            <a:endParaRPr lang="en-US" sz="900" dirty="0"/>
          </a:p>
        </p:txBody>
      </p:sp>
      <p:sp>
        <p:nvSpPr>
          <p:cNvPr id="134" name="Text 26">
            <a:extLst>
              <a:ext uri="{FF2B5EF4-FFF2-40B4-BE49-F238E27FC236}">
                <a16:creationId xmlns:a16="http://schemas.microsoft.com/office/drawing/2014/main" id="{0FEEE304-2CA5-911F-8F43-9BCCCD367D2D}"/>
              </a:ext>
            </a:extLst>
          </p:cNvPr>
          <p:cNvSpPr/>
          <p:nvPr/>
        </p:nvSpPr>
        <p:spPr>
          <a:xfrm>
            <a:off x="8143048" y="27410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800" dirty="0"/>
          </a:p>
        </p:txBody>
      </p:sp>
      <p:sp>
        <p:nvSpPr>
          <p:cNvPr id="136" name="Shape 27">
            <a:extLst>
              <a:ext uri="{FF2B5EF4-FFF2-40B4-BE49-F238E27FC236}">
                <a16:creationId xmlns:a16="http://schemas.microsoft.com/office/drawing/2014/main" id="{B4C336B3-029B-966C-A339-359E7FD2466D}"/>
              </a:ext>
            </a:extLst>
          </p:cNvPr>
          <p:cNvSpPr/>
          <p:nvPr/>
        </p:nvSpPr>
        <p:spPr>
          <a:xfrm>
            <a:off x="10346752" y="2576452"/>
            <a:ext cx="347472" cy="347472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8" name="Image 6" descr="/home/claude/assets/icons/mappin_FFFFFF.png">
            <a:extLst>
              <a:ext uri="{FF2B5EF4-FFF2-40B4-BE49-F238E27FC236}">
                <a16:creationId xmlns:a16="http://schemas.microsoft.com/office/drawing/2014/main" id="{BEAFC186-7246-D3CA-EBEE-F15E12300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620" y="2663320"/>
            <a:ext cx="173736" cy="173736"/>
          </a:xfrm>
          <a:prstGeom prst="rect">
            <a:avLst/>
          </a:prstGeom>
        </p:spPr>
      </p:pic>
      <p:sp>
        <p:nvSpPr>
          <p:cNvPr id="140" name="Text 28">
            <a:extLst>
              <a:ext uri="{FF2B5EF4-FFF2-40B4-BE49-F238E27FC236}">
                <a16:creationId xmlns:a16="http://schemas.microsoft.com/office/drawing/2014/main" id="{883F6233-E94F-66A1-74EF-88A417C0BE74}"/>
              </a:ext>
            </a:extLst>
          </p:cNvPr>
          <p:cNvSpPr/>
          <p:nvPr/>
        </p:nvSpPr>
        <p:spPr>
          <a:xfrm>
            <a:off x="9606088" y="29787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Plata</a:t>
            </a:r>
            <a:endParaRPr lang="en-US" sz="900" dirty="0"/>
          </a:p>
        </p:txBody>
      </p:sp>
      <p:sp>
        <p:nvSpPr>
          <p:cNvPr id="142" name="Shape 29">
            <a:extLst>
              <a:ext uri="{FF2B5EF4-FFF2-40B4-BE49-F238E27FC236}">
                <a16:creationId xmlns:a16="http://schemas.microsoft.com/office/drawing/2014/main" id="{B838E597-7529-780F-CED4-43C594D53317}"/>
              </a:ext>
            </a:extLst>
          </p:cNvPr>
          <p:cNvSpPr/>
          <p:nvPr/>
        </p:nvSpPr>
        <p:spPr>
          <a:xfrm>
            <a:off x="10346752" y="3765172"/>
            <a:ext cx="347472" cy="347472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44" name="Image 7" descr="/home/claude/assets/icons/mappin_FFFFFF.png">
            <a:extLst>
              <a:ext uri="{FF2B5EF4-FFF2-40B4-BE49-F238E27FC236}">
                <a16:creationId xmlns:a16="http://schemas.microsoft.com/office/drawing/2014/main" id="{C79CA108-A606-AAEF-8756-D53478826C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620" y="3852040"/>
            <a:ext cx="173736" cy="173736"/>
          </a:xfrm>
          <a:prstGeom prst="rect">
            <a:avLst/>
          </a:prstGeom>
        </p:spPr>
      </p:pic>
      <p:sp>
        <p:nvSpPr>
          <p:cNvPr id="146" name="Text 30">
            <a:extLst>
              <a:ext uri="{FF2B5EF4-FFF2-40B4-BE49-F238E27FC236}">
                <a16:creationId xmlns:a16="http://schemas.microsoft.com/office/drawing/2014/main" id="{6182EE01-BA5D-804D-6073-7EE42542D024}"/>
              </a:ext>
            </a:extLst>
          </p:cNvPr>
          <p:cNvSpPr/>
          <p:nvPr/>
        </p:nvSpPr>
        <p:spPr>
          <a:xfrm>
            <a:off x="9606088" y="41675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Romana</a:t>
            </a:r>
            <a:endParaRPr lang="en-US" sz="900" dirty="0"/>
          </a:p>
        </p:txBody>
      </p:sp>
      <p:sp>
        <p:nvSpPr>
          <p:cNvPr id="148" name="Shape 31">
            <a:extLst>
              <a:ext uri="{FF2B5EF4-FFF2-40B4-BE49-F238E27FC236}">
                <a16:creationId xmlns:a16="http://schemas.microsoft.com/office/drawing/2014/main" id="{5EDCD0ED-DF4B-2EFF-4AB7-467EDB519085}"/>
              </a:ext>
            </a:extLst>
          </p:cNvPr>
          <p:cNvSpPr/>
          <p:nvPr/>
        </p:nvSpPr>
        <p:spPr>
          <a:xfrm>
            <a:off x="8975152" y="4222372"/>
            <a:ext cx="347472" cy="347472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0" name="Image 8" descr="/home/claude/assets/icons/mappin_FFFFFF.png">
            <a:extLst>
              <a:ext uri="{FF2B5EF4-FFF2-40B4-BE49-F238E27FC236}">
                <a16:creationId xmlns:a16="http://schemas.microsoft.com/office/drawing/2014/main" id="{88ECF2DA-4FE3-C367-4531-04429A7901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2020" y="4309240"/>
            <a:ext cx="173736" cy="173736"/>
          </a:xfrm>
          <a:prstGeom prst="rect">
            <a:avLst/>
          </a:prstGeom>
        </p:spPr>
      </p:pic>
      <p:sp>
        <p:nvSpPr>
          <p:cNvPr id="152" name="Text 32">
            <a:extLst>
              <a:ext uri="{FF2B5EF4-FFF2-40B4-BE49-F238E27FC236}">
                <a16:creationId xmlns:a16="http://schemas.microsoft.com/office/drawing/2014/main" id="{16DDC17F-630B-4E41-2426-348D5396BCB5}"/>
              </a:ext>
            </a:extLst>
          </p:cNvPr>
          <p:cNvSpPr/>
          <p:nvPr/>
        </p:nvSpPr>
        <p:spPr>
          <a:xfrm>
            <a:off x="8234488" y="46247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Barahona</a:t>
            </a:r>
            <a:endParaRPr lang="en-US" sz="900" dirty="0"/>
          </a:p>
        </p:txBody>
      </p:sp>
      <p:sp>
        <p:nvSpPr>
          <p:cNvPr id="154" name="Shape 33">
            <a:extLst>
              <a:ext uri="{FF2B5EF4-FFF2-40B4-BE49-F238E27FC236}">
                <a16:creationId xmlns:a16="http://schemas.microsoft.com/office/drawing/2014/main" id="{DD789662-440C-073D-D066-CFFF2C44A824}"/>
              </a:ext>
            </a:extLst>
          </p:cNvPr>
          <p:cNvSpPr/>
          <p:nvPr/>
        </p:nvSpPr>
        <p:spPr>
          <a:xfrm>
            <a:off x="7318564" y="5100196"/>
            <a:ext cx="384048" cy="384048"/>
          </a:xfrm>
          <a:prstGeom prst="ellipse">
            <a:avLst/>
          </a:prstGeom>
          <a:solidFill>
            <a:srgbClr val="15295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6" name="Image 9" descr="/home/claude/assets/icons/wifi_20C7F4.png">
            <a:extLst>
              <a:ext uri="{FF2B5EF4-FFF2-40B4-BE49-F238E27FC236}">
                <a16:creationId xmlns:a16="http://schemas.microsoft.com/office/drawing/2014/main" id="{5C27F8BF-84C8-240A-8039-FF9DCC329D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4576" y="5196208"/>
            <a:ext cx="192024" cy="192024"/>
          </a:xfrm>
          <a:prstGeom prst="rect">
            <a:avLst/>
          </a:prstGeom>
        </p:spPr>
      </p:pic>
      <p:sp>
        <p:nvSpPr>
          <p:cNvPr id="158" name="Text 34">
            <a:extLst>
              <a:ext uri="{FF2B5EF4-FFF2-40B4-BE49-F238E27FC236}">
                <a16:creationId xmlns:a16="http://schemas.microsoft.com/office/drawing/2014/main" id="{30B9D14A-DF9A-66A9-94E4-3DA6DF9EA3FE}"/>
              </a:ext>
            </a:extLst>
          </p:cNvPr>
          <p:cNvSpPr/>
          <p:nvPr/>
        </p:nvSpPr>
        <p:spPr>
          <a:xfrm>
            <a:off x="6817168" y="5548252"/>
            <a:ext cx="1386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900" dirty="0"/>
          </a:p>
        </p:txBody>
      </p:sp>
      <p:sp>
        <p:nvSpPr>
          <p:cNvPr id="160" name="Shape 35">
            <a:extLst>
              <a:ext uri="{FF2B5EF4-FFF2-40B4-BE49-F238E27FC236}">
                <a16:creationId xmlns:a16="http://schemas.microsoft.com/office/drawing/2014/main" id="{C3A8B27A-CE19-A4DB-8ED9-F748F189F773}"/>
              </a:ext>
            </a:extLst>
          </p:cNvPr>
          <p:cNvSpPr/>
          <p:nvPr/>
        </p:nvSpPr>
        <p:spPr>
          <a:xfrm>
            <a:off x="8979724" y="5100196"/>
            <a:ext cx="384048" cy="384048"/>
          </a:xfrm>
          <a:prstGeom prst="ellipse">
            <a:avLst/>
          </a:prstGeom>
          <a:solidFill>
            <a:srgbClr val="15295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2" name="Image 10" descr="/home/claude/assets/icons/shield_20C7F4.png">
            <a:extLst>
              <a:ext uri="{FF2B5EF4-FFF2-40B4-BE49-F238E27FC236}">
                <a16:creationId xmlns:a16="http://schemas.microsoft.com/office/drawing/2014/main" id="{9664EC71-D65A-9A2E-1324-1D17B2D06C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5736" y="5196208"/>
            <a:ext cx="192024" cy="192024"/>
          </a:xfrm>
          <a:prstGeom prst="rect">
            <a:avLst/>
          </a:prstGeom>
        </p:spPr>
      </p:pic>
      <p:sp>
        <p:nvSpPr>
          <p:cNvPr id="164" name="Text 36">
            <a:extLst>
              <a:ext uri="{FF2B5EF4-FFF2-40B4-BE49-F238E27FC236}">
                <a16:creationId xmlns:a16="http://schemas.microsoft.com/office/drawing/2014/main" id="{E02B595B-14D2-A86E-58AE-921ED39FC9C2}"/>
              </a:ext>
            </a:extLst>
          </p:cNvPr>
          <p:cNvSpPr/>
          <p:nvPr/>
        </p:nvSpPr>
        <p:spPr>
          <a:xfrm>
            <a:off x="8478328" y="5548252"/>
            <a:ext cx="1386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900" dirty="0"/>
          </a:p>
        </p:txBody>
      </p:sp>
      <p:sp>
        <p:nvSpPr>
          <p:cNvPr id="166" name="Shape 37">
            <a:extLst>
              <a:ext uri="{FF2B5EF4-FFF2-40B4-BE49-F238E27FC236}">
                <a16:creationId xmlns:a16="http://schemas.microsoft.com/office/drawing/2014/main" id="{50CDEACB-EB1D-200E-B70D-5FE2F60D6FA3}"/>
              </a:ext>
            </a:extLst>
          </p:cNvPr>
          <p:cNvSpPr/>
          <p:nvPr/>
        </p:nvSpPr>
        <p:spPr>
          <a:xfrm>
            <a:off x="10640884" y="5100196"/>
            <a:ext cx="384048" cy="384048"/>
          </a:xfrm>
          <a:prstGeom prst="ellipse">
            <a:avLst/>
          </a:prstGeom>
          <a:solidFill>
            <a:srgbClr val="15295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8" name="Image 11" descr="/home/claude/assets/icons/server_20C7F4.png">
            <a:extLst>
              <a:ext uri="{FF2B5EF4-FFF2-40B4-BE49-F238E27FC236}">
                <a16:creationId xmlns:a16="http://schemas.microsoft.com/office/drawing/2014/main" id="{A58A23D9-3BDD-205A-A60A-008E20CF05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6896" y="5196208"/>
            <a:ext cx="192024" cy="192024"/>
          </a:xfrm>
          <a:prstGeom prst="rect">
            <a:avLst/>
          </a:prstGeom>
        </p:spPr>
      </p:pic>
      <p:sp>
        <p:nvSpPr>
          <p:cNvPr id="170" name="Text 38">
            <a:extLst>
              <a:ext uri="{FF2B5EF4-FFF2-40B4-BE49-F238E27FC236}">
                <a16:creationId xmlns:a16="http://schemas.microsoft.com/office/drawing/2014/main" id="{A0C5C472-EAA4-F7A3-4568-EFA6B46284E1}"/>
              </a:ext>
            </a:extLst>
          </p:cNvPr>
          <p:cNvSpPr/>
          <p:nvPr/>
        </p:nvSpPr>
        <p:spPr>
          <a:xfrm>
            <a:off x="10139488" y="5548252"/>
            <a:ext cx="1386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900" dirty="0"/>
          </a:p>
        </p:txBody>
      </p:sp>
      <p:sp>
        <p:nvSpPr>
          <p:cNvPr id="172" name="Shape 6">
            <a:extLst>
              <a:ext uri="{FF2B5EF4-FFF2-40B4-BE49-F238E27FC236}">
                <a16:creationId xmlns:a16="http://schemas.microsoft.com/office/drawing/2014/main" id="{F9B3CB33-B09D-CDBC-3F72-0525099035A7}"/>
              </a:ext>
            </a:extLst>
          </p:cNvPr>
          <p:cNvSpPr/>
          <p:nvPr/>
        </p:nvSpPr>
        <p:spPr>
          <a:xfrm>
            <a:off x="502920" y="4147063"/>
            <a:ext cx="402336" cy="402336"/>
          </a:xfrm>
          <a:prstGeom prst="ellipse">
            <a:avLst/>
          </a:prstGeom>
          <a:solidFill>
            <a:srgbClr val="15295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4" name="Image 1" descr="/home/claude/assets/icons/home_20C7F4.png">
            <a:extLst>
              <a:ext uri="{FF2B5EF4-FFF2-40B4-BE49-F238E27FC236}">
                <a16:creationId xmlns:a16="http://schemas.microsoft.com/office/drawing/2014/main" id="{18A9C0F3-890D-0973-C3E6-ECC40308B6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04" y="4247647"/>
            <a:ext cx="201168" cy="201168"/>
          </a:xfrm>
          <a:prstGeom prst="rect">
            <a:avLst/>
          </a:prstGeom>
        </p:spPr>
      </p:pic>
      <p:sp>
        <p:nvSpPr>
          <p:cNvPr id="176" name="Text 7">
            <a:extLst>
              <a:ext uri="{FF2B5EF4-FFF2-40B4-BE49-F238E27FC236}">
                <a16:creationId xmlns:a16="http://schemas.microsoft.com/office/drawing/2014/main" id="{9055BB60-E714-AE7A-C870-4E99263515AA}"/>
              </a:ext>
            </a:extLst>
          </p:cNvPr>
          <p:cNvSpPr/>
          <p:nvPr/>
        </p:nvSpPr>
        <p:spPr>
          <a:xfrm>
            <a:off x="1005840" y="4147063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principal: Santo Domingo</a:t>
            </a:r>
            <a:endParaRPr lang="en-US" sz="1150" dirty="0"/>
          </a:p>
        </p:txBody>
      </p:sp>
      <p:sp>
        <p:nvSpPr>
          <p:cNvPr id="178" name="Shape 8">
            <a:extLst>
              <a:ext uri="{FF2B5EF4-FFF2-40B4-BE49-F238E27FC236}">
                <a16:creationId xmlns:a16="http://schemas.microsoft.com/office/drawing/2014/main" id="{780740E6-E054-FA39-6039-AC262CA49C13}"/>
              </a:ext>
            </a:extLst>
          </p:cNvPr>
          <p:cNvSpPr/>
          <p:nvPr/>
        </p:nvSpPr>
        <p:spPr>
          <a:xfrm>
            <a:off x="502920" y="4713991"/>
            <a:ext cx="402336" cy="402336"/>
          </a:xfrm>
          <a:prstGeom prst="ellipse">
            <a:avLst/>
          </a:prstGeom>
          <a:solidFill>
            <a:srgbClr val="15295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0" name="Image 2" descr="/home/claude/assets/icons/mappin_20C7F4.png">
            <a:extLst>
              <a:ext uri="{FF2B5EF4-FFF2-40B4-BE49-F238E27FC236}">
                <a16:creationId xmlns:a16="http://schemas.microsoft.com/office/drawing/2014/main" id="{C500A219-C7C2-FB8F-978F-C47C121954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04" y="4814575"/>
            <a:ext cx="201168" cy="201168"/>
          </a:xfrm>
          <a:prstGeom prst="rect">
            <a:avLst/>
          </a:prstGeom>
        </p:spPr>
      </p:pic>
      <p:sp>
        <p:nvSpPr>
          <p:cNvPr id="182" name="Text 9">
            <a:extLst>
              <a:ext uri="{FF2B5EF4-FFF2-40B4-BE49-F238E27FC236}">
                <a16:creationId xmlns:a16="http://schemas.microsoft.com/office/drawing/2014/main" id="{2D9C75B2-7E13-22CE-7633-6335CB21512B}"/>
              </a:ext>
            </a:extLst>
          </p:cNvPr>
          <p:cNvSpPr/>
          <p:nvPr/>
        </p:nvSpPr>
        <p:spPr>
          <a:xfrm>
            <a:off x="1005840" y="4713991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Presencia: Santiago, La Romana, Puerto Plata y Barahona</a:t>
            </a:r>
            <a:endParaRPr lang="en-US" sz="1150" dirty="0"/>
          </a:p>
        </p:txBody>
      </p:sp>
      <p:sp>
        <p:nvSpPr>
          <p:cNvPr id="184" name="Shape 10">
            <a:extLst>
              <a:ext uri="{FF2B5EF4-FFF2-40B4-BE49-F238E27FC236}">
                <a16:creationId xmlns:a16="http://schemas.microsoft.com/office/drawing/2014/main" id="{456BCB0A-B2D5-8788-70A6-18A83D7C0CE7}"/>
              </a:ext>
            </a:extLst>
          </p:cNvPr>
          <p:cNvSpPr/>
          <p:nvPr/>
        </p:nvSpPr>
        <p:spPr>
          <a:xfrm>
            <a:off x="502920" y="5280919"/>
            <a:ext cx="402336" cy="402336"/>
          </a:xfrm>
          <a:prstGeom prst="ellipse">
            <a:avLst/>
          </a:prstGeom>
          <a:solidFill>
            <a:srgbClr val="15295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6" name="Image 3" descr="/home/claude/assets/icons/checkcircle_20C7F4.png">
            <a:extLst>
              <a:ext uri="{FF2B5EF4-FFF2-40B4-BE49-F238E27FC236}">
                <a16:creationId xmlns:a16="http://schemas.microsoft.com/office/drawing/2014/main" id="{AC564315-7697-8C6A-E525-C1CE7B9AB0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504" y="5381503"/>
            <a:ext cx="201168" cy="201168"/>
          </a:xfrm>
          <a:prstGeom prst="rect">
            <a:avLst/>
          </a:prstGeom>
        </p:spPr>
      </p:pic>
      <p:sp>
        <p:nvSpPr>
          <p:cNvPr id="188" name="Text 11">
            <a:extLst>
              <a:ext uri="{FF2B5EF4-FFF2-40B4-BE49-F238E27FC236}">
                <a16:creationId xmlns:a16="http://schemas.microsoft.com/office/drawing/2014/main" id="{AC42F88C-3720-913E-0A8D-1DC74A4B8E65}"/>
              </a:ext>
            </a:extLst>
          </p:cNvPr>
          <p:cNvSpPr/>
          <p:nvPr/>
        </p:nvSpPr>
        <p:spPr>
          <a:xfrm>
            <a:off x="1005840" y="5280919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Enfoque: conectividad, continuidad, seguridad y servicios centralizados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CORPORATIVA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62179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Misión, visión y valores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0F2142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58952" y="1856232"/>
            <a:ext cx="512064" cy="512064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9751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952" y="251460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58952" y="2898648"/>
            <a:ext cx="300837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soluciones de comunicación y servicios tecnológicos confiables, seguros y accesibles que conecten las operaciones de QNS a nivel nacional.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160520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0F2142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7"/>
          <p:cNvSpPr/>
          <p:nvPr/>
        </p:nvSpPr>
        <p:spPr>
          <a:xfrm>
            <a:off x="4416552" y="1856232"/>
            <a:ext cx="512064" cy="512064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2" descr="icons/ra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19751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16552" y="251460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416552" y="2898648"/>
            <a:ext cx="300837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una organización dominicana reconocida por la calidad de su infraestructura tecnológica y su capacidad de crecer de forma segura.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818120" y="1600200"/>
            <a:ext cx="3886200" cy="2148840"/>
          </a:xfrm>
          <a:prstGeom prst="roundRect">
            <a:avLst>
              <a:gd name="adj" fmla="val 3830"/>
            </a:avLst>
          </a:prstGeom>
          <a:solidFill>
            <a:srgbClr val="0F2142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1"/>
          <p:cNvSpPr/>
          <p:nvPr/>
        </p:nvSpPr>
        <p:spPr>
          <a:xfrm>
            <a:off x="8074152" y="1856232"/>
            <a:ext cx="512064" cy="512064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3" descr="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197510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74152" y="2514600"/>
            <a:ext cx="3374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074152" y="2898648"/>
            <a:ext cx="337413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ordenada y segura para garantizar continuidad, escalabilidad y confianza a las sedes y clientes de QNS.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0292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02920" y="4389120"/>
            <a:ext cx="2105497" cy="1874520"/>
          </a:xfrm>
          <a:prstGeom prst="roundRect">
            <a:avLst>
              <a:gd name="adj" fmla="val 3902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6"/>
          <p:cNvSpPr/>
          <p:nvPr/>
        </p:nvSpPr>
        <p:spPr>
          <a:xfrm>
            <a:off x="667512" y="4553712"/>
            <a:ext cx="402336" cy="402336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3" name="Image 4" descr="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63600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9224" y="5029200"/>
            <a:ext cx="181288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49224" y="5468112"/>
            <a:ext cx="181288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Protegemos la información, los accesos y la continuidad de la operación.</a:t>
            </a:r>
            <a:endParaRPr lang="en-US" sz="830" dirty="0"/>
          </a:p>
        </p:txBody>
      </p:sp>
      <p:sp>
        <p:nvSpPr>
          <p:cNvPr id="26" name="Shape 19"/>
          <p:cNvSpPr/>
          <p:nvPr/>
        </p:nvSpPr>
        <p:spPr>
          <a:xfrm>
            <a:off x="2773009" y="4389120"/>
            <a:ext cx="2105497" cy="1874520"/>
          </a:xfrm>
          <a:prstGeom prst="roundRect">
            <a:avLst>
              <a:gd name="adj" fmla="val 3902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0"/>
          <p:cNvSpPr/>
          <p:nvPr/>
        </p:nvSpPr>
        <p:spPr>
          <a:xfrm>
            <a:off x="2937601" y="4553712"/>
            <a:ext cx="402336" cy="402336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5" descr="icons/aw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9897" y="4636008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919313" y="5029200"/>
            <a:ext cx="181288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Excelencia en el servicio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2919313" y="5468112"/>
            <a:ext cx="181288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Priorizamos disponibilidad, respuesta oportuna y experiencia del usuario.</a:t>
            </a:r>
            <a:endParaRPr lang="en-US" sz="830" dirty="0"/>
          </a:p>
        </p:txBody>
      </p:sp>
      <p:sp>
        <p:nvSpPr>
          <p:cNvPr id="31" name="Shape 23"/>
          <p:cNvSpPr/>
          <p:nvPr/>
        </p:nvSpPr>
        <p:spPr>
          <a:xfrm>
            <a:off x="5043099" y="4389120"/>
            <a:ext cx="2105497" cy="1874520"/>
          </a:xfrm>
          <a:prstGeom prst="roundRect">
            <a:avLst>
              <a:gd name="adj" fmla="val 3902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24"/>
          <p:cNvSpPr/>
          <p:nvPr/>
        </p:nvSpPr>
        <p:spPr>
          <a:xfrm>
            <a:off x="5207691" y="4553712"/>
            <a:ext cx="402336" cy="402336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3" name="Image 6" descr="icons/trend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9987" y="4636008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89403" y="5029200"/>
            <a:ext cx="181288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189403" y="5468112"/>
            <a:ext cx="181288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Adoptamos soluciones que simplifican la operación y preparan la red para crecer.</a:t>
            </a:r>
            <a:endParaRPr lang="en-US" sz="830" dirty="0"/>
          </a:p>
        </p:txBody>
      </p:sp>
      <p:sp>
        <p:nvSpPr>
          <p:cNvPr id="36" name="Shape 27"/>
          <p:cNvSpPr/>
          <p:nvPr/>
        </p:nvSpPr>
        <p:spPr>
          <a:xfrm>
            <a:off x="7313188" y="4389120"/>
            <a:ext cx="2105497" cy="1874520"/>
          </a:xfrm>
          <a:prstGeom prst="roundRect">
            <a:avLst>
              <a:gd name="adj" fmla="val 3902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Shape 28"/>
          <p:cNvSpPr/>
          <p:nvPr/>
        </p:nvSpPr>
        <p:spPr>
          <a:xfrm>
            <a:off x="7477780" y="4553712"/>
            <a:ext cx="402336" cy="402336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8" name="Image 7" descr="icons/shield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0076" y="4636008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459492" y="5029200"/>
            <a:ext cx="181288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7459492" y="5468112"/>
            <a:ext cx="181288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Documentamos, verificamos y asumimos cada cambio técnico de forma controlada.</a:t>
            </a:r>
            <a:endParaRPr lang="en-US" sz="830" dirty="0"/>
          </a:p>
        </p:txBody>
      </p:sp>
      <p:sp>
        <p:nvSpPr>
          <p:cNvPr id="41" name="Shape 31"/>
          <p:cNvSpPr/>
          <p:nvPr/>
        </p:nvSpPr>
        <p:spPr>
          <a:xfrm>
            <a:off x="9583278" y="4389120"/>
            <a:ext cx="2105497" cy="1874520"/>
          </a:xfrm>
          <a:prstGeom prst="roundRect">
            <a:avLst>
              <a:gd name="adj" fmla="val 3902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Shape 32"/>
          <p:cNvSpPr/>
          <p:nvPr/>
        </p:nvSpPr>
        <p:spPr>
          <a:xfrm>
            <a:off x="9747870" y="4553712"/>
            <a:ext cx="402336" cy="402336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3" name="Image 8" descr="icons/us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166" y="4636008"/>
            <a:ext cx="237744" cy="23774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9729582" y="5029200"/>
            <a:ext cx="181288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9729582" y="5468112"/>
            <a:ext cx="181288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Integramos redes, seguridad, servicios y pruebas como una sola solución.</a:t>
            </a:r>
            <a:endParaRPr lang="en-US" sz="830" dirty="0"/>
          </a:p>
        </p:txBody>
      </p:sp>
      <p:sp>
        <p:nvSpPr>
          <p:cNvPr id="46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 · Proyecto Final TI-203 · Conmutación y Enrutamiento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QUISQUEYA NETWORK SOLUTIONS  ·  PROYECTO FINAL TI-203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assets/qns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29260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566928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Nuestro equipo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3545738" cy="2386584"/>
          </a:xfrm>
          <a:prstGeom prst="roundRect">
            <a:avLst>
              <a:gd name="adj" fmla="val 3065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13232" y="1600200"/>
            <a:ext cx="512064" cy="512064"/>
          </a:xfrm>
          <a:prstGeom prst="ellipse">
            <a:avLst/>
          </a:prstGeom>
          <a:solidFill>
            <a:srgbClr val="20C7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3232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173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71600" y="1563624"/>
            <a:ext cx="25764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RAMÓN EMILIO GARCÍA VARGAS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71600" y="1984248"/>
            <a:ext cx="257647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2025-0174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1520" y="2258568"/>
            <a:ext cx="317997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Ingeniero en Telemática y Arquitecto de Redes Empresariales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1520" y="2660904"/>
            <a:ext cx="31799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CCNP Enterprise · Cisco Enterprise Core · CyberOps Associate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1520" y="3008376"/>
            <a:ext cx="3179978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técnica, arquitectura de red e integración general.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322978" y="1417320"/>
            <a:ext cx="3545738" cy="2386584"/>
          </a:xfrm>
          <a:prstGeom prst="roundRect">
            <a:avLst>
              <a:gd name="adj" fmla="val 3065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487570" y="1600200"/>
            <a:ext cx="512064" cy="512064"/>
          </a:xfrm>
          <a:prstGeom prst="ellipse">
            <a:avLst/>
          </a:prstGeom>
          <a:solidFill>
            <a:srgbClr val="20C7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487570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173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145938" y="1563624"/>
            <a:ext cx="25764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GUSTAVO GABRIEL GARCÍA DEL ROSARIO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145938" y="1984248"/>
            <a:ext cx="257647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2025-0400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05858" y="2258568"/>
            <a:ext cx="317997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Ingeniero en Redes y Telecomunicaciones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505858" y="2660904"/>
            <a:ext cx="31799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CCNP Enterprise · Cisco Enterprise Advanced Infrastructure · CCNA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505858" y="3008376"/>
            <a:ext cx="3179978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Switching avanzado, HSRP, EtherChannel y STP.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097317" y="1417320"/>
            <a:ext cx="3545738" cy="2386584"/>
          </a:xfrm>
          <a:prstGeom prst="roundRect">
            <a:avLst>
              <a:gd name="adj" fmla="val 3065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261909" y="1600200"/>
            <a:ext cx="512064" cy="512064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61909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WJ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920277" y="1563624"/>
            <a:ext cx="25764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WILMER JARED TOVAL GARCÍA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920277" y="1984248"/>
            <a:ext cx="257647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2025-0669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280197" y="2258568"/>
            <a:ext cx="317997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Ingeniero en Telecomunicaciones y Administrador de Redes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280197" y="2660904"/>
            <a:ext cx="31799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CCNA · Cisco Enterprise Design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280197" y="3008376"/>
            <a:ext cx="3179978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Direccionamiento, OSPF multiárea, rutas y NAT/PAT.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48640" y="4032504"/>
            <a:ext cx="3545738" cy="2386584"/>
          </a:xfrm>
          <a:prstGeom prst="roundRect">
            <a:avLst>
              <a:gd name="adj" fmla="val 3065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13232" y="4215384"/>
            <a:ext cx="512064" cy="512064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13232" y="42153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371600" y="4178808"/>
            <a:ext cx="25764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BERNIS GABRIEL BELTRÉ GUILLÉN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371600" y="4599432"/>
            <a:ext cx="257647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2025-1445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31520" y="4873752"/>
            <a:ext cx="317997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 Sistemas y Administrador de Servidores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31520" y="5276088"/>
            <a:ext cx="31799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LPIC-1 · CCNA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31520" y="5623560"/>
            <a:ext cx="3179978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DNS, DHCP, Web, NFS, correo y servicios corporativos.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322978" y="4032504"/>
            <a:ext cx="3545738" cy="2386584"/>
          </a:xfrm>
          <a:prstGeom prst="roundRect">
            <a:avLst>
              <a:gd name="adj" fmla="val 3065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487570" y="4215384"/>
            <a:ext cx="512064" cy="512064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487570" y="42153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145938" y="4178808"/>
            <a:ext cx="25764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ANDY EZEQUIEL DE LA CRUZ RAMÍREZ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145938" y="4599432"/>
            <a:ext cx="257647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2025-0768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505858" y="4873752"/>
            <a:ext cx="317997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Ingeniero en Ciberseguridad y Seguridad de Redes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4505858" y="5276088"/>
            <a:ext cx="31799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Cisco CyberOps Associate · CCNA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505858" y="5623560"/>
            <a:ext cx="3179978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ACL, SSH, RADIUS, VPN IPSec y seguridad de Capa 2.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8097317" y="4032504"/>
            <a:ext cx="3545738" cy="2386584"/>
          </a:xfrm>
          <a:prstGeom prst="roundRect">
            <a:avLst>
              <a:gd name="adj" fmla="val 3065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8261909" y="4215384"/>
            <a:ext cx="512064" cy="512064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8261909" y="42153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8920277" y="4178808"/>
            <a:ext cx="25764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AARÓN ALEXIS HERNÁNDEZ MÉNDEZ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8920277" y="4599432"/>
            <a:ext cx="257647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2025-0800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280197" y="4873752"/>
            <a:ext cx="317997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 Sistemas y Analista de Monitoreo de Redes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8280197" y="5276088"/>
            <a:ext cx="317997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CCNA · CompTIA Network+</a:t>
            </a:r>
            <a:endParaRPr kumimoji="0" lang="en-US" sz="7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8280197" y="5623560"/>
            <a:ext cx="3179978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Pruebas, Zabbix, evidencias y validación operacional.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QUISQUEYA NETWORK SOLUTIONS  ·  PROYECTO FINAL TI-203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assets/qns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29260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DEL NEGOCIO A LA RED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566928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El reto y objetivo de la solución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481328"/>
            <a:ext cx="6126480" cy="1417320"/>
          </a:xfrm>
          <a:prstGeom prst="roundRect">
            <a:avLst>
              <a:gd name="adj" fmla="val 5161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804672" y="1627632"/>
            <a:ext cx="5614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4672" y="1901952"/>
            <a:ext cx="56144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Conectar cinco sedes, múltiples departamentos, usuarios y servicios sin perder control, disponibilidad ni seguridad.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6126480" cy="1965960"/>
          </a:xfrm>
          <a:prstGeom prst="roundRect">
            <a:avLst>
              <a:gd name="adj" fmla="val 3721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04672" y="3209544"/>
            <a:ext cx="5614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4672" y="3493008"/>
            <a:ext cx="56144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Diseñar, implementar y validar en PNETLab una infraestructura corporativa que interconecte las sedes de QNS, segmente los departamentos, asigne direccionamiento controlado, ofrezca servicios corporativos y aplique mecanismos de seguridad, redundancia y acceso a Internet.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" y="5166360"/>
            <a:ext cx="6126480" cy="960120"/>
          </a:xfrm>
          <a:prstGeom prst="roundRect">
            <a:avLst>
              <a:gd name="adj" fmla="val 7619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7240" y="5417820"/>
            <a:ext cx="457200" cy="457200"/>
          </a:xfrm>
          <a:prstGeom prst="ellipse">
            <a:avLst/>
          </a:prstGeom>
          <a:solidFill>
            <a:srgbClr val="20C7F4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1" descr="/home/claude/assets/icons/arrowright_0B17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553212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53312" y="5257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RESPUESTA QNS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353312" y="55138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Diseño jerárquico, routing dinámico, redundancia, seguridad y servicios centralizados.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949440" y="1517904"/>
            <a:ext cx="4693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CRITERIOS CLAVE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949440" y="1874520"/>
            <a:ext cx="4693615" cy="777240"/>
          </a:xfrm>
          <a:prstGeom prst="roundRect">
            <a:avLst>
              <a:gd name="adj" fmla="val 9412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7132320" y="2061972"/>
            <a:ext cx="402336" cy="402336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2" descr="/home/claude/assets/icons/trendingu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2162556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635240" y="1874520"/>
            <a:ext cx="38249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proyectado: 40% a cinco años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949440" y="2775204"/>
            <a:ext cx="4693615" cy="777240"/>
          </a:xfrm>
          <a:prstGeom prst="roundRect">
            <a:avLst>
              <a:gd name="adj" fmla="val 9412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7132320" y="2962656"/>
            <a:ext cx="402336" cy="402336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3" descr="/home/claude/assets/icons/gri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904" y="306324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2775204"/>
            <a:ext cx="38249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por VLAN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6949440" y="3675888"/>
            <a:ext cx="4693615" cy="777240"/>
          </a:xfrm>
          <a:prstGeom prst="roundRect">
            <a:avLst>
              <a:gd name="adj" fmla="val 9412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7132320" y="3863340"/>
            <a:ext cx="402336" cy="402336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4" descr="/home/claude/assets/icons/glob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2904" y="3963924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635240" y="3675888"/>
            <a:ext cx="38249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OSPF multiárea y rutas de borde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6949440" y="4576572"/>
            <a:ext cx="4693615" cy="777240"/>
          </a:xfrm>
          <a:prstGeom prst="roundRect">
            <a:avLst>
              <a:gd name="adj" fmla="val 9412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7132320" y="4764024"/>
            <a:ext cx="402336" cy="402336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5" descr="/home/claude/assets/icons/shiel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2904" y="4864608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635240" y="4576572"/>
            <a:ext cx="38249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y seguridad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6949440" y="5477256"/>
            <a:ext cx="4693615" cy="777240"/>
          </a:xfrm>
          <a:prstGeom prst="roundRect">
            <a:avLst>
              <a:gd name="adj" fmla="val 9412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7132320" y="5664708"/>
            <a:ext cx="402336" cy="402336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6" descr="/home/claude/assets/icons/server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2904" y="5765292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635240" y="5477256"/>
            <a:ext cx="38249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centralizados en Santiago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62179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general de QNS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12014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1" descr="assets/topologia_cr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627632"/>
            <a:ext cx="10835640" cy="4160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 · Proyecto Final TI-203 · Conmutación y Enrutamiento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2F7F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62179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Plan de direccionamiento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15361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 privada: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10.0.0.0/8  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 Red pública académica: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1.0.0.0/24  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 Crecimiento considerado: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40% a cinco años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2103120"/>
            <a:ext cx="2743200" cy="434340"/>
          </a:xfrm>
          <a:prstGeom prst="rect">
            <a:avLst/>
          </a:prstGeom>
          <a:solidFill>
            <a:srgbClr val="0B17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" y="2103120"/>
            <a:ext cx="25603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46120" y="2103120"/>
            <a:ext cx="3703320" cy="434340"/>
          </a:xfrm>
          <a:prstGeom prst="rect">
            <a:avLst/>
          </a:prstGeom>
          <a:solidFill>
            <a:srgbClr val="0B17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55848" y="2103120"/>
            <a:ext cx="3520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49440" y="2103120"/>
            <a:ext cx="2834640" cy="434340"/>
          </a:xfrm>
          <a:prstGeom prst="rect">
            <a:avLst/>
          </a:prstGeom>
          <a:solidFill>
            <a:srgbClr val="0B17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59168" y="2103120"/>
            <a:ext cx="26517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784080" y="2103120"/>
            <a:ext cx="1920240" cy="434340"/>
          </a:xfrm>
          <a:prstGeom prst="rect">
            <a:avLst/>
          </a:prstGeom>
          <a:solidFill>
            <a:srgbClr val="0B173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893808" y="2103120"/>
            <a:ext cx="1737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2920" y="2537460"/>
            <a:ext cx="274320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2648" y="2537460"/>
            <a:ext cx="25603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Santo Domingo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46120" y="2537460"/>
            <a:ext cx="370332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355848" y="2537460"/>
            <a:ext cx="3520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VLAN 10 · Atención al Cliente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949440" y="2537460"/>
            <a:ext cx="283464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59168" y="2537460"/>
            <a:ext cx="26517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10.0.0.0/24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784080" y="2537460"/>
            <a:ext cx="192024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893808" y="2537460"/>
            <a:ext cx="1737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10.0.0.1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02920" y="2971800"/>
            <a:ext cx="27432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12648" y="2971800"/>
            <a:ext cx="25603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Santo Domingo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46120" y="2971800"/>
            <a:ext cx="37033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355848" y="2971800"/>
            <a:ext cx="3520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VLAN 20 · Administración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949440" y="2971800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059168" y="2971800"/>
            <a:ext cx="26517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10.0.2.0/25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784080" y="2971800"/>
            <a:ext cx="19202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893808" y="2971800"/>
            <a:ext cx="1737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10.0.2.1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02920" y="3406140"/>
            <a:ext cx="274320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12648" y="3406140"/>
            <a:ext cx="25603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Santo Domingo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46120" y="3406140"/>
            <a:ext cx="370332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355848" y="3406140"/>
            <a:ext cx="3520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VLAN 30 · Ventas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949440" y="3406140"/>
            <a:ext cx="283464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059168" y="3406140"/>
            <a:ext cx="26517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10.0.1.128/25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9784080" y="3406140"/>
            <a:ext cx="192024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893808" y="3406140"/>
            <a:ext cx="1737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10.0.1.129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02920" y="3840480"/>
            <a:ext cx="27432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12648" y="3840480"/>
            <a:ext cx="25603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Santo Domingo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246120" y="3840480"/>
            <a:ext cx="37033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3355848" y="3840480"/>
            <a:ext cx="3520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VLAN 40 · Operaciones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949440" y="3840480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7059168" y="3840480"/>
            <a:ext cx="26517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10.0.1.0/25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9784080" y="3840480"/>
            <a:ext cx="19202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9893808" y="3840480"/>
            <a:ext cx="1737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10.0.1.1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02920" y="4274820"/>
            <a:ext cx="274320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12648" y="4274820"/>
            <a:ext cx="25603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Santiago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3246120" y="4274820"/>
            <a:ext cx="370332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355848" y="4274820"/>
            <a:ext cx="3520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VLAN 50 · Centro de Datos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949440" y="4274820"/>
            <a:ext cx="283464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059168" y="4274820"/>
            <a:ext cx="26517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10.0.4.32/27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9784080" y="4274820"/>
            <a:ext cx="192024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9893808" y="4274820"/>
            <a:ext cx="1737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10.0.4.33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02920" y="4709160"/>
            <a:ext cx="27432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12648" y="4709160"/>
            <a:ext cx="25603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Santiago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3246120" y="4709160"/>
            <a:ext cx="37033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3355848" y="4709160"/>
            <a:ext cx="3520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VLAN 60 · Ventas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949440" y="4709160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7059168" y="4709160"/>
            <a:ext cx="26517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10.0.4.0/27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9784080" y="4709160"/>
            <a:ext cx="19202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9893808" y="4709160"/>
            <a:ext cx="1737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10.0.4.1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502920" y="5143500"/>
            <a:ext cx="274320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612648" y="5143500"/>
            <a:ext cx="25603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Puerto Plata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3246120" y="5143500"/>
            <a:ext cx="370332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3355848" y="5143500"/>
            <a:ext cx="3520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LAN de sucursal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6949440" y="5143500"/>
            <a:ext cx="283464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7059168" y="5143500"/>
            <a:ext cx="26517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10.0.6.0/27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9784080" y="5143500"/>
            <a:ext cx="1920240" cy="434340"/>
          </a:xfrm>
          <a:prstGeom prst="rect">
            <a:avLst/>
          </a:prstGeom>
          <a:solidFill>
            <a:srgbClr val="EDF1FA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9893808" y="5143500"/>
            <a:ext cx="1737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10.0.6.1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502920" y="5577840"/>
            <a:ext cx="27432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612648" y="5577840"/>
            <a:ext cx="25603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 Romana / Barahona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3246120" y="5577840"/>
            <a:ext cx="37033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3355848" y="5577840"/>
            <a:ext cx="3520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LAN de sucursal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6949440" y="5577840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7059168" y="5577840"/>
            <a:ext cx="26517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10.0.6.32/27 · 10.0.6.64/27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9784080" y="5577840"/>
            <a:ext cx="19202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9893808" y="5577840"/>
            <a:ext cx="1737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10.0.6.33 · 10.0.6.65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502920" y="61950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Tabla resumen con las redes principales. El detalle completo de subredes y enlaces de tránsito está en el informe técnico.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QNS · Proyecto Final TI-203 · Conmutación y Enrutamiento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PRINCIPAL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62179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 Domingo: núcleo redundante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R-SW1 y R-SW2 funcionan como switches multicapa de distribución con interfaces VLAN y gateways virtuales compartidos mediante HSRP. Los switches SW3, SW4 y SW5 dan acceso a los usuarios de forma redundante.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2514600"/>
            <a:ext cx="2093976" cy="1371600"/>
          </a:xfrm>
          <a:prstGeom prst="roundRect">
            <a:avLst>
              <a:gd name="adj" fmla="val 5333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40080" y="267004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10896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Cliente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79776" y="2514600"/>
            <a:ext cx="2093976" cy="1371600"/>
          </a:xfrm>
          <a:prstGeom prst="roundRect">
            <a:avLst>
              <a:gd name="adj" fmla="val 5333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2916936" y="267004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916936" y="310896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56632" y="2514600"/>
            <a:ext cx="2093976" cy="1371600"/>
          </a:xfrm>
          <a:prstGeom prst="roundRect">
            <a:avLst>
              <a:gd name="adj" fmla="val 5333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5193792" y="267004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193792" y="310896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33488" y="2514600"/>
            <a:ext cx="2093976" cy="1371600"/>
          </a:xfrm>
          <a:prstGeom prst="roundRect">
            <a:avLst>
              <a:gd name="adj" fmla="val 5333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7470648" y="267004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70648" y="310896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610344" y="2514600"/>
            <a:ext cx="2093976" cy="1371600"/>
          </a:xfrm>
          <a:prstGeom prst="roundRect">
            <a:avLst>
              <a:gd name="adj" fmla="val 5333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9747504" y="267004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99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747504" y="310896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4160520"/>
            <a:ext cx="11201400" cy="1463040"/>
          </a:xfrm>
          <a:prstGeom prst="roundRect">
            <a:avLst>
              <a:gd name="adj" fmla="val 5625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731520" y="4636008"/>
            <a:ext cx="512064" cy="512064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3" name="Image 1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75488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17320" y="4288536"/>
            <a:ext cx="10012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417320" y="4544568"/>
            <a:ext cx="10012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 virtuales por VLAN (HSRP) y switches de acceso conectados de forma redundante hacia distribución, manteniendo disponibilidad de la sede principal.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 · Proyecto Final TI-203 · Conmutación y Enrutamiento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QUISQUEYA NETWORK SOLUTIONS  ·  PROYECTO FINAL TI-203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assets/qns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29260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566928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Redundancia de Capa 2 y Capa 3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481328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041093" y="1783080"/>
            <a:ext cx="530352" cy="530352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/home/claude/assets/icons/refreshcw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681" y="1915668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441448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HSRP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77240" y="2779776"/>
            <a:ext cx="30580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Mantiene gateways virtuales y permite continuidad si uno de los switches de distribución deja de responder.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38218" y="1481328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830672" y="1783080"/>
            <a:ext cx="530352" cy="530352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2" descr="/home/claude/assets/icons/lin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260" y="1915668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1098" y="2441448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ETHERCHANNEL (LACP)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566818" y="2779776"/>
            <a:ext cx="30580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Agrupa enlaces físicos entre R-SW1 y R-SW2 para aumentar disponibilidad y capacidad.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8127797" y="1481328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9620250" y="1783080"/>
            <a:ext cx="530352" cy="530352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3" descr="/home/claude/assets/icons/lay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2838" y="1915668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10677" y="2441448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RAPID STP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356397" y="2779776"/>
            <a:ext cx="30580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Evita bucles de Capa 2 y controla los caminos redundantes.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548640" y="4069080"/>
            <a:ext cx="11094415" cy="1508760"/>
          </a:xfrm>
          <a:prstGeom prst="roundRect">
            <a:avLst>
              <a:gd name="adj" fmla="val 4848"/>
            </a:avLst>
          </a:prstGeom>
          <a:solidFill>
            <a:srgbClr val="0F1F41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4267048" y="5074920"/>
            <a:ext cx="3657600" cy="914"/>
          </a:xfrm>
          <a:prstGeom prst="line">
            <a:avLst/>
          </a:prstGeom>
          <a:noFill/>
          <a:ln w="31750">
            <a:solidFill>
              <a:srgbClr val="3FD8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267048" y="4818888"/>
            <a:ext cx="3657600" cy="914"/>
          </a:xfrm>
          <a:prstGeom prst="line">
            <a:avLst/>
          </a:prstGeom>
          <a:noFill/>
          <a:ln w="19050">
            <a:solidFill>
              <a:srgbClr val="6E7FA8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084168" y="4892040"/>
            <a:ext cx="365760" cy="365760"/>
          </a:xfrm>
          <a:prstGeom prst="ellipse">
            <a:avLst/>
          </a:prstGeom>
          <a:solidFill>
            <a:srgbClr val="20C7F4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4" descr="/home/claude/assets/icons/layers_0B17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5608" y="4983480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352648" y="53126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R-SW1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7741768" y="4892040"/>
            <a:ext cx="365760" cy="365760"/>
          </a:xfrm>
          <a:prstGeom prst="ellipse">
            <a:avLst/>
          </a:prstGeom>
          <a:solidFill>
            <a:srgbClr val="20C7F4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5" descr="/home/claude/assets/icons/layers_0B17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3208" y="4983480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010248" y="53126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R-SW2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4724248" y="5138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FD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Enlace activo (EtherChannel)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4724248" y="45902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Camino en espera (STP)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822960" y="420624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la sede principal no depende de un único enlace ni de un único gateway.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QUISQUEYA NETWORK SOLUTIONS  ·  PROYECTO FINAL TI-203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assets/qns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29260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BACKBONE CORPORATIVO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566928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Enrutamiento, NAT e Internet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6400800" cy="2788920"/>
          </a:xfrm>
          <a:prstGeom prst="roundRect">
            <a:avLst>
              <a:gd name="adj" fmla="val 2623"/>
            </a:avLst>
          </a:prstGeom>
          <a:solidFill>
            <a:srgbClr val="0F1F41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133856" y="1911096"/>
            <a:ext cx="384048" cy="384048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/home/claude/assets/icons/gri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868" y="2007108"/>
            <a:ext cx="192024" cy="1920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2350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20040" y="25694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Depto.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944368" y="1892808"/>
            <a:ext cx="420624" cy="420624"/>
          </a:xfrm>
          <a:prstGeom prst="ellipse">
            <a:avLst/>
          </a:prstGeom>
          <a:solidFill>
            <a:srgbClr val="20C7F4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/home/claude/assets/icons/home_0B17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9524" y="199796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40280" y="23682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R-SD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2148840" y="25877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Área 10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2944368" y="2990088"/>
            <a:ext cx="420624" cy="420624"/>
          </a:xfrm>
          <a:prstGeom prst="ellipse">
            <a:avLst/>
          </a:prstGeom>
          <a:solidFill>
            <a:srgbClr val="20C7F4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 descr="/home/claude/assets/icons/database_0B17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9524" y="3095244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240280" y="34655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R-STGO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2148840" y="36850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Área 20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1325880" y="2103120"/>
            <a:ext cx="1554480" cy="914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5029200" y="2194560"/>
            <a:ext cx="457200" cy="457200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4" descr="/home/claude/assets/icons/clou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230886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43400" y="27066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25196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 / PAT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3410712" y="2148840"/>
            <a:ext cx="1527048" cy="22860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19"/>
          <p:cNvSpPr/>
          <p:nvPr/>
        </p:nvSpPr>
        <p:spPr>
          <a:xfrm flipV="1">
            <a:off x="3410712" y="2697480"/>
            <a:ext cx="1572768" cy="45720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6080760" y="2194560"/>
            <a:ext cx="457200" cy="457200"/>
          </a:xfrm>
          <a:prstGeom prst="ellipse">
            <a:avLst/>
          </a:prstGeom>
          <a:solidFill>
            <a:srgbClr val="20C7F4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5" descr="/home/claude/assets/icons/globe_0B173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5060" y="230886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94960" y="27066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53035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8.8.8.8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5532120" y="2423160"/>
            <a:ext cx="502920" cy="914"/>
          </a:xfrm>
          <a:prstGeom prst="line">
            <a:avLst/>
          </a:prstGeom>
          <a:noFill/>
          <a:ln w="22225">
            <a:solidFill>
              <a:srgbClr val="20C7F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548640" y="4434840"/>
            <a:ext cx="6400800" cy="1143000"/>
          </a:xfrm>
          <a:prstGeom prst="roundRect">
            <a:avLst>
              <a:gd name="adj" fmla="val 6400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777240" y="459028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OSPF multiárea: Área 10 (Santo Domingo) · Área 20 (Santiago) · rutas por defecto en sucursales de menor complejidad.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7223760" y="1517904"/>
            <a:ext cx="4419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7223760" y="1892808"/>
            <a:ext cx="201168" cy="201168"/>
          </a:xfrm>
          <a:prstGeom prst="ellipse">
            <a:avLst/>
          </a:prstGeom>
          <a:solidFill>
            <a:srgbClr val="3FD8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6" descr="/home/claude/assets/icons/check_0B173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4908" y="1933956"/>
            <a:ext cx="118872" cy="1188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34656" y="1828800"/>
            <a:ext cx="41083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Rutas internas convergidas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29"/>
          <p:cNvSpPr/>
          <p:nvPr/>
        </p:nvSpPr>
        <p:spPr>
          <a:xfrm>
            <a:off x="7223760" y="2350008"/>
            <a:ext cx="201168" cy="201168"/>
          </a:xfrm>
          <a:prstGeom prst="ellipse">
            <a:avLst/>
          </a:prstGeom>
          <a:solidFill>
            <a:srgbClr val="3FD8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 7" descr="/home/claude/assets/icons/check_0B173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4908" y="2391156"/>
            <a:ext cx="118872" cy="11887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534656" y="2286000"/>
            <a:ext cx="41083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Acceso al servidor QNS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7223760" y="2807208"/>
            <a:ext cx="201168" cy="201168"/>
          </a:xfrm>
          <a:prstGeom prst="ellipse">
            <a:avLst/>
          </a:prstGeom>
          <a:solidFill>
            <a:srgbClr val="3FD8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8" descr="/home/claude/assets/icons/check_0B173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4908" y="2848356"/>
            <a:ext cx="118872" cy="11887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534656" y="2743200"/>
            <a:ext cx="41083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hacia 8.8.8.8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7223760" y="3520440"/>
            <a:ext cx="4419295" cy="1234440"/>
          </a:xfrm>
          <a:prstGeom prst="roundRect">
            <a:avLst>
              <a:gd name="adj" fmla="val 5926"/>
            </a:avLst>
          </a:prstGeom>
          <a:solidFill>
            <a:srgbClr val="0F1F41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34"/>
          <p:cNvSpPr/>
          <p:nvPr/>
        </p:nvSpPr>
        <p:spPr>
          <a:xfrm>
            <a:off x="7452360" y="3909060"/>
            <a:ext cx="457200" cy="457200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9" descr="/home/claude/assets/icons/refreshcw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6660" y="4023360"/>
            <a:ext cx="228600" cy="22860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8065008" y="3611880"/>
            <a:ext cx="336773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NAT/PAT traduce las redes privadas para utilizar la salida del ISP y el Cloud NAT de PNETLab.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6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SUCURSALES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62179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Santiago, Puerto Plata, Barahona y La Romana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5501488" cy="1737360"/>
          </a:xfrm>
          <a:prstGeom prst="roundRect">
            <a:avLst>
              <a:gd name="adj" fmla="val 4737"/>
            </a:avLst>
          </a:prstGeom>
          <a:solidFill>
            <a:srgbClr val="0F2142"/>
          </a:solidFill>
          <a:ln w="12700">
            <a:solidFill>
              <a:srgbClr val="1B2C4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hape 3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2F7FE8"/>
          </a:solidFill>
          <a:ln/>
        </p:spPr>
        <p:txBody>
          <a:bodyPr/>
          <a:lstStyle/>
          <a:p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Image 1" descr="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94767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801368"/>
            <a:ext cx="440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Santiago</a:t>
            </a:r>
            <a:endParaRPr 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5"/>
          <p:cNvSpPr/>
          <p:nvPr/>
        </p:nvSpPr>
        <p:spPr>
          <a:xfrm>
            <a:off x="685800" y="2468880"/>
            <a:ext cx="5044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Datos, Ventas y Administración. Concentra el servidor QNS y los servicios corporativos.</a:t>
            </a:r>
            <a:endParaRPr 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hape 6"/>
          <p:cNvSpPr/>
          <p:nvPr/>
        </p:nvSpPr>
        <p:spPr>
          <a:xfrm>
            <a:off x="6233008" y="1600200"/>
            <a:ext cx="5501488" cy="1737360"/>
          </a:xfrm>
          <a:prstGeom prst="roundRect">
            <a:avLst>
              <a:gd name="adj" fmla="val 4737"/>
            </a:avLst>
          </a:prstGeom>
          <a:solidFill>
            <a:srgbClr val="0F2142"/>
          </a:solidFill>
          <a:ln w="12700">
            <a:solidFill>
              <a:srgbClr val="1B2C4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61608" y="1828800"/>
            <a:ext cx="502920" cy="502920"/>
          </a:xfrm>
          <a:prstGeom prst="ellipse">
            <a:avLst/>
          </a:prstGeom>
          <a:solidFill>
            <a:srgbClr val="2F7FE8"/>
          </a:solidFill>
          <a:ln/>
        </p:spPr>
        <p:txBody>
          <a:bodyPr/>
          <a:lstStyle/>
          <a:p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Image 2" descr="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480" y="1947672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01688" y="1801368"/>
            <a:ext cx="440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Puerto Plata</a:t>
            </a:r>
            <a:endParaRPr 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 9"/>
          <p:cNvSpPr/>
          <p:nvPr/>
        </p:nvSpPr>
        <p:spPr>
          <a:xfrm>
            <a:off x="6461608" y="2468880"/>
            <a:ext cx="5044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LAN de usuarios con direccionamiento dinámico (10.0.6.0/27). Router de borde hacia el ISP.</a:t>
            </a:r>
            <a:endParaRPr 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57200" y="3611880"/>
            <a:ext cx="5501488" cy="1737360"/>
          </a:xfrm>
          <a:prstGeom prst="roundRect">
            <a:avLst>
              <a:gd name="adj" fmla="val 4737"/>
            </a:avLst>
          </a:prstGeom>
          <a:solidFill>
            <a:srgbClr val="0F2142"/>
          </a:solidFill>
          <a:ln w="12700">
            <a:solidFill>
              <a:srgbClr val="1B2C4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2F7FE8"/>
          </a:solidFill>
          <a:ln/>
        </p:spPr>
        <p:txBody>
          <a:bodyPr/>
          <a:lstStyle/>
          <a:p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Image 3" descr="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959352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813048"/>
            <a:ext cx="440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Barahona</a:t>
            </a:r>
            <a:endParaRPr 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 13"/>
          <p:cNvSpPr/>
          <p:nvPr/>
        </p:nvSpPr>
        <p:spPr>
          <a:xfrm>
            <a:off x="685800" y="4480560"/>
            <a:ext cx="5044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LAN de usuarios con direccionamiento dinámico (10.0.6.64/27). Router de borde hacia el ISP.</a:t>
            </a:r>
            <a:endParaRPr 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233008" y="3611880"/>
            <a:ext cx="5501488" cy="1737360"/>
          </a:xfrm>
          <a:prstGeom prst="roundRect">
            <a:avLst>
              <a:gd name="adj" fmla="val 4737"/>
            </a:avLst>
          </a:prstGeom>
          <a:solidFill>
            <a:srgbClr val="0F2142"/>
          </a:solidFill>
          <a:ln w="12700">
            <a:solidFill>
              <a:srgbClr val="1B2C4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Shape 15"/>
          <p:cNvSpPr/>
          <p:nvPr/>
        </p:nvSpPr>
        <p:spPr>
          <a:xfrm>
            <a:off x="6461608" y="3840480"/>
            <a:ext cx="502920" cy="502920"/>
          </a:xfrm>
          <a:prstGeom prst="ellipse">
            <a:avLst/>
          </a:prstGeom>
          <a:solidFill>
            <a:srgbClr val="2F7FE8"/>
          </a:solidFill>
          <a:ln/>
        </p:spPr>
        <p:txBody>
          <a:bodyPr/>
          <a:lstStyle/>
          <a:p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2" name="Image 4" descr="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480" y="3959352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01688" y="3813048"/>
            <a:ext cx="440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La Romana</a:t>
            </a:r>
            <a:endParaRPr 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 17"/>
          <p:cNvSpPr/>
          <p:nvPr/>
        </p:nvSpPr>
        <p:spPr>
          <a:xfrm>
            <a:off x="6461608" y="4480560"/>
            <a:ext cx="5044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Tres departamentos representados en LAN de laboratorio (10.0.6.32/27), según el escenario.</a:t>
            </a:r>
            <a:endParaRPr 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 · Proyecto Final TI-203 · Conmutación y Enrutamiento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E15DAF0F-B459-0F8A-2EA4-7CC2E2A0C07E}"/>
              </a:ext>
            </a:extLst>
          </p:cNvPr>
          <p:cNvSpPr/>
          <p:nvPr/>
        </p:nvSpPr>
        <p:spPr>
          <a:xfrm>
            <a:off x="571500" y="54864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7C4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Todas las sedes se enlazan al ISP mediante su router de borde.</a:t>
            </a:r>
            <a:endParaRPr lang="en-US" sz="10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QUISQUEYA NETWORK SOLUTIONS  ·  PROYECTO FINAL TI-203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assets/qns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29260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RED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566928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DHCP y conectividad extremo a extremo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6400800" cy="1691640"/>
          </a:xfrm>
          <a:prstGeom prst="roundRect">
            <a:avLst>
              <a:gd name="adj" fmla="val 4324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804672" y="1609344"/>
            <a:ext cx="5888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DIRECCIONAMIENTO DINÁMICO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4672" y="1920240"/>
            <a:ext cx="58887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DHCP entrega IP, máscara, gateway y DNS a los usuarios.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 Santiago, SW6 utiliza DHCP Relay hacia el servidor 10.0.4.34.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Las sucursales remotas utilizan direccionamiento dinámico según su diseño.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6400800" cy="2286000"/>
          </a:xfrm>
          <a:prstGeom prst="roundRect">
            <a:avLst>
              <a:gd name="adj" fmla="val 3200"/>
            </a:avLst>
          </a:prstGeom>
          <a:solidFill>
            <a:srgbClr val="0F1F41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04672" y="3429000"/>
            <a:ext cx="5888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CONECTIVIDAD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463040" y="4434840"/>
            <a:ext cx="4572000" cy="914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271016" y="4242816"/>
            <a:ext cx="384048" cy="384048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1" descr="/home/claude/assets/icons/monito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028" y="4338828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4681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PC cliente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962656" y="4242816"/>
            <a:ext cx="384048" cy="384048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2" descr="/home/claude/assets/icons/wifi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8668" y="4338828"/>
            <a:ext cx="192024" cy="1920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40280" y="4681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54296" y="4242816"/>
            <a:ext cx="384048" cy="384048"/>
          </a:xfrm>
          <a:prstGeom prst="ellipse">
            <a:avLst/>
          </a:prstGeom>
          <a:solidFill>
            <a:srgbClr val="20C7F4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3" descr="/home/claude/assets/icons/server_0B17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308" y="4338828"/>
            <a:ext cx="192024" cy="1920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31920" y="4681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Servidor QNS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3840480" y="49194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10.0.4.34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5843016" y="4242816"/>
            <a:ext cx="384048" cy="384048"/>
          </a:xfrm>
          <a:prstGeom prst="ellipse">
            <a:avLst/>
          </a:prstGeom>
          <a:solidFill>
            <a:srgbClr val="20C7F4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4" descr="/home/claude/assets/icons/globe_0B17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028" y="4338828"/>
            <a:ext cx="192024" cy="1920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20640" y="4681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5029200" y="49194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8.8.8.8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7223760" y="1463040"/>
            <a:ext cx="4419295" cy="4114800"/>
          </a:xfrm>
          <a:prstGeom prst="roundRect">
            <a:avLst>
              <a:gd name="adj" fmla="val 1778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7452360" y="1627632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PRUEBAS REALIZADAS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7452360" y="2075688"/>
            <a:ext cx="201168" cy="201168"/>
          </a:xfrm>
          <a:prstGeom prst="ellipse">
            <a:avLst/>
          </a:prstGeom>
          <a:solidFill>
            <a:srgbClr val="3FD8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5" descr="/home/claude/assets/icons/check_0B173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3508" y="2116836"/>
            <a:ext cx="118872" cy="1188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763256" y="2011680"/>
            <a:ext cx="3651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Gateway local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7452360" y="2551176"/>
            <a:ext cx="201168" cy="201168"/>
          </a:xfrm>
          <a:prstGeom prst="ellipse">
            <a:avLst/>
          </a:prstGeom>
          <a:solidFill>
            <a:srgbClr val="3FD8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6" descr="/home/claude/assets/icons/check_0B173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3508" y="2592324"/>
            <a:ext cx="118872" cy="1188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763256" y="2487168"/>
            <a:ext cx="3651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Servidor QNS: 10.0.4.34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6"/>
          <p:cNvSpPr/>
          <p:nvPr/>
        </p:nvSpPr>
        <p:spPr>
          <a:xfrm>
            <a:off x="7452360" y="3026664"/>
            <a:ext cx="201168" cy="201168"/>
          </a:xfrm>
          <a:prstGeom prst="ellipse">
            <a:avLst/>
          </a:prstGeom>
          <a:solidFill>
            <a:srgbClr val="3FD8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7" descr="/home/claude/assets/icons/check_0B173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3508" y="3067812"/>
            <a:ext cx="118872" cy="1188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763256" y="2962656"/>
            <a:ext cx="3651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www.qns.com.do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7452360" y="3502152"/>
            <a:ext cx="201168" cy="201168"/>
          </a:xfrm>
          <a:prstGeom prst="ellipse">
            <a:avLst/>
          </a:prstGeom>
          <a:solidFill>
            <a:srgbClr val="3FD8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 8" descr="/home/claude/assets/icons/check_0B173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3508" y="3543300"/>
            <a:ext cx="118872" cy="11887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763256" y="3438144"/>
            <a:ext cx="3651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Internet: 8.8.8.8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7452360" y="3977640"/>
            <a:ext cx="3962095" cy="914"/>
          </a:xfrm>
          <a:prstGeom prst="line">
            <a:avLst/>
          </a:prstGeom>
          <a:noFill/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1"/>
          <p:cNvSpPr/>
          <p:nvPr/>
        </p:nvSpPr>
        <p:spPr>
          <a:xfrm>
            <a:off x="7452360" y="4133088"/>
            <a:ext cx="3962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2"/>
          <p:cNvSpPr/>
          <p:nvPr/>
        </p:nvSpPr>
        <p:spPr>
          <a:xfrm>
            <a:off x="7452360" y="4407408"/>
            <a:ext cx="3962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de diferentes sedes pudieron utilizar la infraestructura de forma integrada.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62179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acceso a la 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2628900" cy="2743200"/>
          </a:xfrm>
          <a:prstGeom prst="roundRect">
            <a:avLst>
              <a:gd name="adj" fmla="val 3130"/>
            </a:avLst>
          </a:prstGeom>
          <a:solidFill>
            <a:srgbClr val="0F2142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58952" y="1856232"/>
            <a:ext cx="512064" cy="512064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9751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952" y="2514600"/>
            <a:ext cx="2116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58952" y="2898648"/>
            <a:ext cx="211683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Security, DHCP Snooping, Dynamic ARP Inspection, PortFast Edge y BPDU Guard.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360420" y="1600200"/>
            <a:ext cx="2628900" cy="2743200"/>
          </a:xfrm>
          <a:prstGeom prst="roundRect">
            <a:avLst>
              <a:gd name="adj" fmla="val 3130"/>
            </a:avLst>
          </a:prstGeom>
          <a:solidFill>
            <a:srgbClr val="0F2142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7"/>
          <p:cNvSpPr/>
          <p:nvPr/>
        </p:nvSpPr>
        <p:spPr>
          <a:xfrm>
            <a:off x="3616452" y="1856232"/>
            <a:ext cx="512064" cy="512064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2" descr="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324" y="19751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16452" y="2514600"/>
            <a:ext cx="2116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tráfico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616452" y="2898648"/>
            <a:ext cx="211683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con criterio de mínimo acceso necesario, verificadas con contadores de coincidencia.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17920" y="1600200"/>
            <a:ext cx="2628900" cy="2743200"/>
          </a:xfrm>
          <a:prstGeom prst="roundRect">
            <a:avLst>
              <a:gd name="adj" fmla="val 3130"/>
            </a:avLst>
          </a:prstGeom>
          <a:solidFill>
            <a:srgbClr val="0F2142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1"/>
          <p:cNvSpPr/>
          <p:nvPr/>
        </p:nvSpPr>
        <p:spPr>
          <a:xfrm>
            <a:off x="6473952" y="1856232"/>
            <a:ext cx="512064" cy="512064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3" descr="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197510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73952" y="2514600"/>
            <a:ext cx="2116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 seguro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73952" y="2898648"/>
            <a:ext cx="211683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v2 con claves RSA. AAA con RADIUS y respaldo de autenticación local.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075420" y="1600200"/>
            <a:ext cx="2628900" cy="2743200"/>
          </a:xfrm>
          <a:prstGeom prst="roundRect">
            <a:avLst>
              <a:gd name="adj" fmla="val 3130"/>
            </a:avLst>
          </a:prstGeom>
          <a:solidFill>
            <a:srgbClr val="0F2142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5"/>
          <p:cNvSpPr/>
          <p:nvPr/>
        </p:nvSpPr>
        <p:spPr>
          <a:xfrm>
            <a:off x="9331452" y="1856232"/>
            <a:ext cx="512064" cy="512064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Image 4" descr="icons/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0324" y="197510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31452" y="2514600"/>
            <a:ext cx="2116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IPSec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9331452" y="2898648"/>
            <a:ext cx="211683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Túneles de sitio a sitio entre la sede principal y las sucursales, validados en las pruebas finales.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02920" y="4572000"/>
            <a:ext cx="11201400" cy="1051560"/>
          </a:xfrm>
          <a:prstGeom prst="roundRect">
            <a:avLst>
              <a:gd name="adj" fmla="val 7826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19"/>
          <p:cNvSpPr/>
          <p:nvPr/>
        </p:nvSpPr>
        <p:spPr>
          <a:xfrm>
            <a:off x="731520" y="4841748"/>
            <a:ext cx="512064" cy="512064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7" name="Image 5" descr="icons/shield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" y="496062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17320" y="4700016"/>
            <a:ext cx="10012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1417320" y="495604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controles de esta diapositiva están implementados y fueron validados durante las pruebas del laboratorio.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 · Proyecto Final TI-203 · Conmutación y Enrutamiento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QUISQUEYA NETWORK SOLUTIONS  ·  PROYECTO FINAL TI-203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assets/qns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29260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SERVICIOS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566928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Servidor QNS y servicios corporativos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291840" cy="4434840"/>
          </a:xfrm>
          <a:prstGeom prst="roundRect">
            <a:avLst>
              <a:gd name="adj" fmla="val 2222"/>
            </a:avLst>
          </a:prstGeom>
          <a:solidFill>
            <a:srgbClr val="0F1F41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737360" y="1965960"/>
            <a:ext cx="914400" cy="914400"/>
          </a:xfrm>
          <a:prstGeom prst="ellipse">
            <a:avLst/>
          </a:prstGeom>
          <a:solidFill>
            <a:srgbClr val="20C7F4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/home/claude/assets/icons/server_0B17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1945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0632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QNS-SERVER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31520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10.0.4.34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1005840" y="3840480"/>
            <a:ext cx="2377440" cy="914"/>
          </a:xfrm>
          <a:prstGeom prst="line">
            <a:avLst/>
          </a:prstGeom>
          <a:noFill/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31520" y="3977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0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3152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de Santiago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22960" y="5120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servicios fueron integrados y validados dentro de la red corporativa.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60520" y="1536192"/>
            <a:ext cx="74825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PRINCIPALES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160520" y="1874520"/>
            <a:ext cx="2360066" cy="1051560"/>
          </a:xfrm>
          <a:prstGeom prst="roundRect">
            <a:avLst>
              <a:gd name="adj" fmla="val 6957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361688" y="2217420"/>
            <a:ext cx="365760" cy="365760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2" descr="/home/claude/assets/icons/glob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2308860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18888" y="2020824"/>
            <a:ext cx="15828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818888" y="2331720"/>
            <a:ext cx="15828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BIND / named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721754" y="1874520"/>
            <a:ext cx="2360066" cy="1051560"/>
          </a:xfrm>
          <a:prstGeom prst="roundRect">
            <a:avLst>
              <a:gd name="adj" fmla="val 6957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922922" y="2217420"/>
            <a:ext cx="365760" cy="365760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3" descr="/home/claude/assets/icons/wifi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362" y="230886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80122" y="2020824"/>
            <a:ext cx="15828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DHCP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380122" y="2331720"/>
            <a:ext cx="15828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ISC dhcpd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9282989" y="1874520"/>
            <a:ext cx="2360066" cy="1051560"/>
          </a:xfrm>
          <a:prstGeom prst="roundRect">
            <a:avLst>
              <a:gd name="adj" fmla="val 6957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9484157" y="2217420"/>
            <a:ext cx="365760" cy="365760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4" descr="/home/claude/assets/icons/gri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597" y="2308860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941357" y="2020824"/>
            <a:ext cx="15828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9941357" y="2331720"/>
            <a:ext cx="15828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4160520" y="3127248"/>
            <a:ext cx="2360066" cy="1051560"/>
          </a:xfrm>
          <a:prstGeom prst="roundRect">
            <a:avLst>
              <a:gd name="adj" fmla="val 6957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4361688" y="3470148"/>
            <a:ext cx="365760" cy="365760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5" descr="/home/claude/assets/icons/fold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3128" y="3561588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818888" y="3273552"/>
            <a:ext cx="15828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NFS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4818888" y="3584448"/>
            <a:ext cx="15828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nfsd + rpcbind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6721754" y="3127248"/>
            <a:ext cx="2360066" cy="1051560"/>
          </a:xfrm>
          <a:prstGeom prst="roundRect">
            <a:avLst>
              <a:gd name="adj" fmla="val 6957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6922922" y="3470148"/>
            <a:ext cx="365760" cy="365760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 6" descr="/home/claude/assets/icons/key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4362" y="3561588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380122" y="3273552"/>
            <a:ext cx="15828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AAA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2"/>
          <p:cNvSpPr/>
          <p:nvPr/>
        </p:nvSpPr>
        <p:spPr>
          <a:xfrm>
            <a:off x="7380122" y="3584448"/>
            <a:ext cx="15828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FreeRADIUS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9282989" y="3127248"/>
            <a:ext cx="2360066" cy="1051560"/>
          </a:xfrm>
          <a:prstGeom prst="roundRect">
            <a:avLst>
              <a:gd name="adj" fmla="val 6957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4"/>
          <p:cNvSpPr/>
          <p:nvPr/>
        </p:nvSpPr>
        <p:spPr>
          <a:xfrm>
            <a:off x="9484157" y="3470148"/>
            <a:ext cx="365760" cy="365760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7" descr="/home/claude/assets/icons/mail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5597" y="3561588"/>
            <a:ext cx="182880" cy="18288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941357" y="3273552"/>
            <a:ext cx="158282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MAIL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36"/>
          <p:cNvSpPr/>
          <p:nvPr/>
        </p:nvSpPr>
        <p:spPr>
          <a:xfrm>
            <a:off x="9941357" y="3584448"/>
            <a:ext cx="15828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Postfix + Dovecot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37"/>
          <p:cNvSpPr/>
          <p:nvPr/>
        </p:nvSpPr>
        <p:spPr>
          <a:xfrm>
            <a:off x="4160520" y="4297680"/>
            <a:ext cx="74825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ADICIONALES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38"/>
          <p:cNvSpPr/>
          <p:nvPr/>
        </p:nvSpPr>
        <p:spPr>
          <a:xfrm>
            <a:off x="4160520" y="4617720"/>
            <a:ext cx="3640684" cy="1051560"/>
          </a:xfrm>
          <a:prstGeom prst="roundRect">
            <a:avLst>
              <a:gd name="adj" fmla="val 6957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4361688" y="4960620"/>
            <a:ext cx="365760" cy="365760"/>
          </a:xfrm>
          <a:prstGeom prst="ellipse">
            <a:avLst/>
          </a:prstGeom>
          <a:solidFill>
            <a:srgbClr val="20C7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8" descr="/home/claude/assets/icons/uploadcloud_0B173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3128" y="5052060"/>
            <a:ext cx="182880" cy="18288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4818888" y="4764024"/>
            <a:ext cx="28634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FTP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1"/>
          <p:cNvSpPr/>
          <p:nvPr/>
        </p:nvSpPr>
        <p:spPr>
          <a:xfrm>
            <a:off x="4818888" y="5074920"/>
            <a:ext cx="286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vsftpd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42"/>
          <p:cNvSpPr/>
          <p:nvPr/>
        </p:nvSpPr>
        <p:spPr>
          <a:xfrm>
            <a:off x="8002372" y="4617720"/>
            <a:ext cx="3640684" cy="1051560"/>
          </a:xfrm>
          <a:prstGeom prst="roundRect">
            <a:avLst>
              <a:gd name="adj" fmla="val 6957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43"/>
          <p:cNvSpPr/>
          <p:nvPr/>
        </p:nvSpPr>
        <p:spPr>
          <a:xfrm>
            <a:off x="8203540" y="4960620"/>
            <a:ext cx="365760" cy="365760"/>
          </a:xfrm>
          <a:prstGeom prst="ellipse">
            <a:avLst/>
          </a:prstGeom>
          <a:solidFill>
            <a:srgbClr val="20C7F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 9" descr="/home/claude/assets/icons/activity_0B173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4980" y="5052060"/>
            <a:ext cx="182880" cy="18288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8660740" y="4764024"/>
            <a:ext cx="28634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MONITOREO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45"/>
          <p:cNvSpPr/>
          <p:nvPr/>
        </p:nvSpPr>
        <p:spPr>
          <a:xfrm>
            <a:off x="8660740" y="5074920"/>
            <a:ext cx="286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62179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de funcionamiento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3581400" cy="1417320"/>
          </a:xfrm>
          <a:prstGeom prst="roundRect">
            <a:avLst>
              <a:gd name="adj" fmla="val 5161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685800" y="1783080"/>
            <a:ext cx="365760" cy="36576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84708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819656"/>
            <a:ext cx="275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85800" y="2167128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Santo Domingo / Santiago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85800" y="2514600"/>
            <a:ext cx="3215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recibieron IP, gateway y DNS vía relay.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312920" y="1600200"/>
            <a:ext cx="3581400" cy="1417320"/>
          </a:xfrm>
          <a:prstGeom prst="roundRect">
            <a:avLst>
              <a:gd name="adj" fmla="val 5161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4495800" y="1783080"/>
            <a:ext cx="365760" cy="36576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2" descr="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808" y="18470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53000" y="1819656"/>
            <a:ext cx="275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4495800" y="2167128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intersede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495800" y="2514600"/>
            <a:ext cx="3215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remotos alcanzaron gateways y servidor 10.0.4.34.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8122920" y="1600200"/>
            <a:ext cx="3581400" cy="1417320"/>
          </a:xfrm>
          <a:prstGeom prst="roundRect">
            <a:avLst>
              <a:gd name="adj" fmla="val 5161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8305800" y="1783080"/>
            <a:ext cx="365760" cy="36576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3" descr="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808" y="184708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63000" y="1819656"/>
            <a:ext cx="275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8305800" y="2167128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y DNS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305800" y="2514600"/>
            <a:ext cx="3215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a 8.8.8.8 exitoso; www.qns.com.do resolvió a 10.0.4.34.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02920" y="3246120"/>
            <a:ext cx="3581400" cy="1417320"/>
          </a:xfrm>
          <a:prstGeom prst="roundRect">
            <a:avLst>
              <a:gd name="adj" fmla="val 5161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18"/>
          <p:cNvSpPr/>
          <p:nvPr/>
        </p:nvSpPr>
        <p:spPr>
          <a:xfrm>
            <a:off x="685800" y="3429000"/>
            <a:ext cx="365760" cy="36576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5" name="Image 4" descr="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49300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43000" y="3465576"/>
            <a:ext cx="275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685800" y="3813048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Correo, RADIUS y NFS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85800" y="4160520"/>
            <a:ext cx="3215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interna confirmada, Access-Accept y montaje rw validado.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312920" y="3246120"/>
            <a:ext cx="3581400" cy="1417320"/>
          </a:xfrm>
          <a:prstGeom prst="roundRect">
            <a:avLst>
              <a:gd name="adj" fmla="val 5161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3"/>
          <p:cNvSpPr/>
          <p:nvPr/>
        </p:nvSpPr>
        <p:spPr>
          <a:xfrm>
            <a:off x="4495800" y="3429000"/>
            <a:ext cx="365760" cy="36576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1" name="Image 5" descr="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808" y="349300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953000" y="3465576"/>
            <a:ext cx="275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4495800" y="3813048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FTP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495800" y="4160520"/>
            <a:ext cx="3215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QNS accesible por nombre; transferencia FTP de prueba realizada.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8122920" y="3246120"/>
            <a:ext cx="3581400" cy="1417320"/>
          </a:xfrm>
          <a:prstGeom prst="roundRect">
            <a:avLst>
              <a:gd name="adj" fmla="val 5161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Shape 28"/>
          <p:cNvSpPr/>
          <p:nvPr/>
        </p:nvSpPr>
        <p:spPr>
          <a:xfrm>
            <a:off x="8305800" y="3429000"/>
            <a:ext cx="365760" cy="36576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7" name="Image 6" descr="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808" y="3493008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63000" y="3465576"/>
            <a:ext cx="275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850" dirty="0"/>
          </a:p>
        </p:txBody>
      </p:sp>
      <p:sp>
        <p:nvSpPr>
          <p:cNvPr id="39" name="Text 30"/>
          <p:cNvSpPr/>
          <p:nvPr/>
        </p:nvSpPr>
        <p:spPr>
          <a:xfrm>
            <a:off x="8305800" y="3813048"/>
            <a:ext cx="3215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/ EtherChannel / STP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8305800" y="4160520"/>
            <a:ext cx="3215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Active/Standby, Port-Channel y árbol de expansión verificados.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 · Proyecto Final TI-203 · Conmutación y Enrutamiento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  <p:sp>
        <p:nvSpPr>
          <p:cNvPr id="46" name="Shape 29">
            <a:extLst>
              <a:ext uri="{FF2B5EF4-FFF2-40B4-BE49-F238E27FC236}">
                <a16:creationId xmlns:a16="http://schemas.microsoft.com/office/drawing/2014/main" id="{1312FB85-89C4-5B1F-34CE-E9ECA41DCC5C}"/>
              </a:ext>
            </a:extLst>
          </p:cNvPr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30">
            <a:extLst>
              <a:ext uri="{FF2B5EF4-FFF2-40B4-BE49-F238E27FC236}">
                <a16:creationId xmlns:a16="http://schemas.microsoft.com/office/drawing/2014/main" id="{ECE81E27-A071-3BEE-8129-5B725AB9557F}"/>
              </a:ext>
            </a:extLst>
          </p:cNvPr>
          <p:cNvSpPr/>
          <p:nvPr/>
        </p:nvSpPr>
        <p:spPr>
          <a:xfrm>
            <a:off x="822960" y="598932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20C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fue probada de extremo a extremo antes de la presentación.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QUISQUEYA NETWORK SOLUTIONS  ·  PROYECTO FINAL TI-203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assets/qns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29260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1089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FÍSICA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566928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Equipos utilizados y justificación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2036003" cy="3063240"/>
          </a:xfrm>
          <a:prstGeom prst="roundRect">
            <a:avLst>
              <a:gd name="adj" fmla="val 3593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310610" y="2258568"/>
            <a:ext cx="512064" cy="512064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/home/claude/assets/icons/wifi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626" y="23865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2926080"/>
            <a:ext cx="1853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76656" y="3410712"/>
            <a:ext cx="1779971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Routers empresariales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94944" y="4087368"/>
            <a:ext cx="17433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Interconexión de sedes, rutas, NAT, ACL, VPN IPSec y acceso SSH.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813243" y="1965960"/>
            <a:ext cx="2036003" cy="3063240"/>
          </a:xfrm>
          <a:prstGeom prst="roundRect">
            <a:avLst>
              <a:gd name="adj" fmla="val 3593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575213" y="2258568"/>
            <a:ext cx="512064" cy="512064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/home/claude/assets/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229" y="23865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04683" y="2926080"/>
            <a:ext cx="1853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2941259" y="3410712"/>
            <a:ext cx="1779971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Switches multicapa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2959547" y="4087368"/>
            <a:ext cx="17433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Gateways de VLAN, routing interno, HSRP, DHCP Relay y redundancia.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077846" y="1965960"/>
            <a:ext cx="2036003" cy="3063240"/>
          </a:xfrm>
          <a:prstGeom prst="roundRect">
            <a:avLst>
              <a:gd name="adj" fmla="val 3593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839816" y="2258568"/>
            <a:ext cx="512064" cy="512064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3" descr="/home/claude/assets/icons/gri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832" y="238658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69286" y="2926080"/>
            <a:ext cx="1853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205862" y="3410712"/>
            <a:ext cx="1779971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Switches de acceso administrables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224150" y="4087368"/>
            <a:ext cx="17433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de usuarios, VLAN y controles de seguridad de Capa 2.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7342449" y="1965960"/>
            <a:ext cx="2036003" cy="3063240"/>
          </a:xfrm>
          <a:prstGeom prst="roundRect">
            <a:avLst>
              <a:gd name="adj" fmla="val 3593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8104419" y="2258568"/>
            <a:ext cx="512064" cy="512064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4" descr="/home/claude/assets/icons/serve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2435" y="238658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33889" y="2926080"/>
            <a:ext cx="1853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7470465" y="3410712"/>
            <a:ext cx="1779971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Servidor Linux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7488753" y="4087368"/>
            <a:ext cx="17433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Centralización de DNS, DHCP, Web, NFS, RADIUS, correo, FTP y Zabbix.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9607052" y="1965960"/>
            <a:ext cx="2036003" cy="3063240"/>
          </a:xfrm>
          <a:prstGeom prst="roundRect">
            <a:avLst>
              <a:gd name="adj" fmla="val 3593"/>
            </a:avLst>
          </a:prstGeom>
          <a:solidFill>
            <a:srgbClr val="112449"/>
          </a:solidFill>
          <a:ln w="12700">
            <a:solidFill>
              <a:srgbClr val="1E3768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10369022" y="2258568"/>
            <a:ext cx="512064" cy="512064"/>
          </a:xfrm>
          <a:prstGeom prst="ellipse">
            <a:avLst/>
          </a:prstGeom>
          <a:solidFill>
            <a:srgbClr val="2F6BFF"/>
          </a:solidFill>
          <a:ln/>
          <a:effectLst>
            <a:outerShdw blurRad="1270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5" descr="/home/claude/assets/icons/monito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7038" y="238658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698492" y="2926080"/>
            <a:ext cx="1853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12 + 6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9735068" y="3410712"/>
            <a:ext cx="1779971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Estaciones de trabajo + UPS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9753356" y="4087368"/>
            <a:ext cx="17433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7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usuario y continuidad de equipos críticos.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TÉCNICO Y ECONÓMICO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62179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estimada de implementación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7190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926080" y="1792224"/>
            <a:ext cx="3017520" cy="365760"/>
          </a:xfrm>
          <a:prstGeom prst="roundRect">
            <a:avLst>
              <a:gd name="adj" fmla="val 10000"/>
            </a:avLst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080760" y="17190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RD$1,800,000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24780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y estaciones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26080" y="2551176"/>
            <a:ext cx="1014222" cy="365760"/>
          </a:xfrm>
          <a:prstGeom prst="roundRect">
            <a:avLst>
              <a:gd name="adj" fmla="val 10000"/>
            </a:avLst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080760" y="24780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RD$605,000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23697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física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926080" y="3310128"/>
            <a:ext cx="1042721" cy="365760"/>
          </a:xfrm>
          <a:prstGeom prst="roundRect">
            <a:avLst>
              <a:gd name="adj" fmla="val 10000"/>
            </a:avLst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080760" y="323697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RD$622,000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9959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y doc.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926080" y="4069080"/>
            <a:ext cx="628650" cy="365760"/>
          </a:xfrm>
          <a:prstGeom prst="roundRect">
            <a:avLst>
              <a:gd name="adj" fmla="val 10000"/>
            </a:avLst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080760" y="399592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RD$375,000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63840" y="1737360"/>
            <a:ext cx="3840480" cy="3017520"/>
          </a:xfrm>
          <a:prstGeom prst="roundRect">
            <a:avLst>
              <a:gd name="adj" fmla="val 2727"/>
            </a:avLst>
          </a:prstGeom>
          <a:solidFill>
            <a:srgbClr val="0F2142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813816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3816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13816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RD$3,402,000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Contingencia técnica (10%)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138160" y="2651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RD$340,200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138160" y="3200400"/>
            <a:ext cx="32918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8138160" y="3337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13816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F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RD$3,742,200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138160" y="39776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7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académica en RD$. No incluye impuestos, licencias particulares ni enlaces mensuales del ISP.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502920" y="5074920"/>
            <a:ext cx="11201400" cy="1051560"/>
          </a:xfrm>
          <a:prstGeom prst="roundRect">
            <a:avLst>
              <a:gd name="adj" fmla="val 7826"/>
            </a:avLst>
          </a:prstGeom>
          <a:solidFill>
            <a:srgbClr val="0F21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731520" y="5344668"/>
            <a:ext cx="512064" cy="512064"/>
          </a:xfrm>
          <a:prstGeom prst="ellipse">
            <a:avLst/>
          </a:prstGeom>
          <a:solidFill>
            <a:srgbClr val="22B6E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9" name="Image 1" descr="icons/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546354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417320" y="5202936"/>
            <a:ext cx="10012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1417320" y="545896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completo de la cotización, con las diez partidas evaluadas, está documentado en el informe técnico final.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QNS · Proyecto Final TI-203 · Conmutación y Enrutamiento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657600"/>
            <a:ext cx="4754880" cy="4754880"/>
          </a:xfrm>
          <a:prstGeom prst="ellipse">
            <a:avLst/>
          </a:prstGeom>
          <a:ln w="12700">
            <a:solidFill>
              <a:srgbClr val="20C7F4">
                <a:alpha val="1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777240" y="4343400"/>
            <a:ext cx="3383280" cy="3383280"/>
          </a:xfrm>
          <a:prstGeom prst="ellipse">
            <a:avLst/>
          </a:prstGeom>
          <a:ln w="12700">
            <a:solidFill>
              <a:srgbClr val="20C7F4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137160" y="4983480"/>
            <a:ext cx="2103120" cy="2103120"/>
          </a:xfrm>
          <a:prstGeom prst="ellipse">
            <a:avLst/>
          </a:prstGeom>
          <a:ln w="12700">
            <a:solidFill>
              <a:srgbClr val="20C7F4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869680" y="-1554480"/>
            <a:ext cx="4754880" cy="4754880"/>
          </a:xfrm>
          <a:prstGeom prst="ellipse">
            <a:avLst/>
          </a:prstGeom>
          <a:ln w="12700">
            <a:solidFill>
              <a:srgbClr val="20C7F4">
                <a:alpha val="1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55480" y="-868680"/>
            <a:ext cx="3383280" cy="3383280"/>
          </a:xfrm>
          <a:prstGeom prst="ellipse">
            <a:avLst/>
          </a:prstGeom>
          <a:ln w="12700">
            <a:solidFill>
              <a:srgbClr val="20C7F4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195560" y="-228600"/>
            <a:ext cx="2103120" cy="2103120"/>
          </a:xfrm>
          <a:prstGeom prst="ellipse">
            <a:avLst/>
          </a:prstGeom>
          <a:ln w="12700">
            <a:solidFill>
              <a:srgbClr val="20C7F4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/home/claude/assets/qns_logo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502920"/>
            <a:ext cx="1737360" cy="1737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42316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DEMOSTRACIÓN EN PNETLab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80160" y="3063240"/>
            <a:ext cx="96313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Ahora validaremos en vivo el funcionamiento de la infraestructura QNS.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072488" y="37947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118208" y="37947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169768" y="3794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215488" y="3794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952848" y="379476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998568" y="37947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87288" y="379476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233008" y="37947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467448" y="37947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513168" y="379476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884768" y="37947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5295A"/>
          </a:solidFill>
          <a:ln w="1270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930488" y="379476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10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592928" y="4617720"/>
            <a:ext cx="1005840" cy="914"/>
          </a:xfrm>
          <a:prstGeom prst="line">
            <a:avLst/>
          </a:prstGeom>
          <a:noFill/>
          <a:ln w="19050">
            <a:solidFill>
              <a:srgbClr val="1E376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14400" y="48920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0C7F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14400" y="53492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Una red corporativa integrada, segura y verificable.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E7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QUISQUEYA NETWORK SOLUTIONS  ·  PROYECTO FINAL TI-203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1887</Words>
  <Application>Microsoft Office PowerPoint</Application>
  <PresentationFormat>Panorámica</PresentationFormat>
  <Paragraphs>371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Gustavo Garcia</cp:lastModifiedBy>
  <cp:revision>2</cp:revision>
  <dcterms:created xsi:type="dcterms:W3CDTF">2026-08-15T20:01:54Z</dcterms:created>
  <dcterms:modified xsi:type="dcterms:W3CDTF">2026-08-16T04:50:51Z</dcterms:modified>
</cp:coreProperties>
</file>